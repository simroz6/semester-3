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JXa6Xtsyfcjeg7FOJ2r5uRb9Y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5183188" y="987425"/>
            <a:ext cx="6172200" cy="4873625"/>
          </a:xfrm>
          <a:prstGeom prst="rect">
            <a:avLst/>
          </a:prstGeom>
          <a:noFill/>
          <a:ln>
            <a:noFill/>
          </a:ln>
        </p:spPr>
      </p:sp>
      <p:sp>
        <p:nvSpPr>
          <p:cNvPr id="64" name="Google Shape;6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AVL Tree </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Insertion and deletion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Introduction</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AVL trees are self balancing Binary search trees.</a:t>
            </a:r>
            <a:endParaRPr/>
          </a:p>
          <a:p>
            <a:pPr indent="-228600" lvl="0" marL="228600" rtl="0" algn="l">
              <a:lnSpc>
                <a:spcPct val="90000"/>
              </a:lnSpc>
              <a:spcBef>
                <a:spcPts val="1000"/>
              </a:spcBef>
              <a:spcAft>
                <a:spcPts val="0"/>
              </a:spcAft>
              <a:buClr>
                <a:schemeClr val="dk1"/>
              </a:buClr>
              <a:buSzPts val="2800"/>
              <a:buChar char="•"/>
            </a:pPr>
            <a:r>
              <a:rPr lang="en-US"/>
              <a:t>Height(N)=Max(Height(LST),Height(RST))+1</a:t>
            </a:r>
            <a:endParaRPr/>
          </a:p>
          <a:p>
            <a:pPr indent="-228600" lvl="0" marL="228600" rtl="0" algn="l">
              <a:lnSpc>
                <a:spcPct val="90000"/>
              </a:lnSpc>
              <a:spcBef>
                <a:spcPts val="1000"/>
              </a:spcBef>
              <a:spcAft>
                <a:spcPts val="0"/>
              </a:spcAft>
              <a:buClr>
                <a:schemeClr val="dk1"/>
              </a:buClr>
              <a:buSzPts val="2800"/>
              <a:buChar char="•"/>
            </a:pPr>
            <a:r>
              <a:rPr lang="en-US"/>
              <a:t>Balance Factor = Height(LST)-Height(RST)</a:t>
            </a:r>
            <a:endParaRPr/>
          </a:p>
          <a:p>
            <a:pPr indent="-228600" lvl="0" marL="228600" rtl="0" algn="l">
              <a:lnSpc>
                <a:spcPct val="90000"/>
              </a:lnSpc>
              <a:spcBef>
                <a:spcPts val="1000"/>
              </a:spcBef>
              <a:spcAft>
                <a:spcPts val="0"/>
              </a:spcAft>
              <a:buClr>
                <a:schemeClr val="dk1"/>
              </a:buClr>
              <a:buSzPts val="2800"/>
              <a:buChar char="•"/>
            </a:pPr>
            <a:r>
              <a:rPr lang="en-US"/>
              <a:t>Allowed values of BF are –1, 0, and +1.</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Exercise</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Calculate heights and balance factors of the following trees.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98" name="Google Shape;98;p3"/>
          <p:cNvPicPr preferRelativeResize="0"/>
          <p:nvPr/>
        </p:nvPicPr>
        <p:blipFill rotWithShape="1">
          <a:blip r:embed="rId3">
            <a:alphaModFix/>
          </a:blip>
          <a:srcRect b="0" l="0" r="0" t="0"/>
          <a:stretch/>
        </p:blipFill>
        <p:spPr>
          <a:xfrm>
            <a:off x="0" y="2544296"/>
            <a:ext cx="5286375" cy="2343150"/>
          </a:xfrm>
          <a:prstGeom prst="rect">
            <a:avLst/>
          </a:prstGeom>
          <a:noFill/>
          <a:ln>
            <a:noFill/>
          </a:ln>
        </p:spPr>
      </p:pic>
      <p:pic>
        <p:nvPicPr>
          <p:cNvPr id="99" name="Google Shape;99;p3"/>
          <p:cNvPicPr preferRelativeResize="0"/>
          <p:nvPr/>
        </p:nvPicPr>
        <p:blipFill rotWithShape="1">
          <a:blip r:embed="rId4">
            <a:alphaModFix/>
          </a:blip>
          <a:srcRect b="0" l="0" r="0" t="0"/>
          <a:stretch/>
        </p:blipFill>
        <p:spPr>
          <a:xfrm>
            <a:off x="4883803" y="2454929"/>
            <a:ext cx="6010275" cy="3400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Rotations in AVL </a:t>
            </a:r>
            <a:endParaRPr/>
          </a:p>
        </p:txBody>
      </p:sp>
      <p:sp>
        <p:nvSpPr>
          <p:cNvPr id="105" name="Google Shape;105;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Single Rotations: </a:t>
            </a:r>
            <a:endParaRPr/>
          </a:p>
          <a:p>
            <a:pPr indent="-228600" lvl="1" marL="685800" rtl="0" algn="l">
              <a:lnSpc>
                <a:spcPct val="90000"/>
              </a:lnSpc>
              <a:spcBef>
                <a:spcPts val="500"/>
              </a:spcBef>
              <a:spcAft>
                <a:spcPts val="0"/>
              </a:spcAft>
              <a:buClr>
                <a:schemeClr val="dk1"/>
              </a:buClr>
              <a:buSzPts val="2400"/>
              <a:buChar char="•"/>
            </a:pPr>
            <a:r>
              <a:rPr lang="en-US"/>
              <a:t>Right Rotate</a:t>
            </a:r>
            <a:endParaRPr/>
          </a:p>
          <a:p>
            <a:pPr indent="-228600" lvl="1" marL="685800" rtl="0" algn="l">
              <a:lnSpc>
                <a:spcPct val="90000"/>
              </a:lnSpc>
              <a:spcBef>
                <a:spcPts val="500"/>
              </a:spcBef>
              <a:spcAft>
                <a:spcPts val="0"/>
              </a:spcAft>
              <a:buClr>
                <a:schemeClr val="dk1"/>
              </a:buClr>
              <a:buSzPts val="2400"/>
              <a:buChar char="•"/>
            </a:pPr>
            <a:r>
              <a:rPr lang="en-US"/>
              <a:t>Left Rotate</a:t>
            </a:r>
            <a:endParaRPr/>
          </a:p>
          <a:p>
            <a:pPr indent="-228600" lvl="0" marL="228600" rtl="0" algn="l">
              <a:lnSpc>
                <a:spcPct val="90000"/>
              </a:lnSpc>
              <a:spcBef>
                <a:spcPts val="1000"/>
              </a:spcBef>
              <a:spcAft>
                <a:spcPts val="0"/>
              </a:spcAft>
              <a:buClr>
                <a:schemeClr val="dk1"/>
              </a:buClr>
              <a:buSzPts val="2800"/>
              <a:buChar char="•"/>
            </a:pPr>
            <a:r>
              <a:rPr lang="en-US"/>
              <a:t>Double Rotations</a:t>
            </a:r>
            <a:endParaRPr/>
          </a:p>
          <a:p>
            <a:pPr indent="-228600" lvl="1" marL="685800" rtl="0" algn="l">
              <a:lnSpc>
                <a:spcPct val="90000"/>
              </a:lnSpc>
              <a:spcBef>
                <a:spcPts val="500"/>
              </a:spcBef>
              <a:spcAft>
                <a:spcPts val="0"/>
              </a:spcAft>
              <a:buClr>
                <a:schemeClr val="dk1"/>
              </a:buClr>
              <a:buSzPts val="2400"/>
              <a:buChar char="•"/>
            </a:pPr>
            <a:r>
              <a:rPr lang="en-US"/>
              <a:t>Left Right  Rotation</a:t>
            </a:r>
            <a:endParaRPr/>
          </a:p>
          <a:p>
            <a:pPr indent="-228600" lvl="1" marL="685800" rtl="0" algn="l">
              <a:lnSpc>
                <a:spcPct val="90000"/>
              </a:lnSpc>
              <a:spcBef>
                <a:spcPts val="500"/>
              </a:spcBef>
              <a:spcAft>
                <a:spcPts val="0"/>
              </a:spcAft>
              <a:buClr>
                <a:schemeClr val="dk1"/>
              </a:buClr>
              <a:buSzPts val="2400"/>
              <a:buChar char="•"/>
            </a:pPr>
            <a:r>
              <a:rPr lang="en-US"/>
              <a:t>Right Left Rotation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Cases of imbalance </a:t>
            </a:r>
            <a:endParaRPr/>
          </a:p>
        </p:txBody>
      </p:sp>
      <p:pic>
        <p:nvPicPr>
          <p:cNvPr id="111" name="Google Shape;111;p5"/>
          <p:cNvPicPr preferRelativeResize="0"/>
          <p:nvPr>
            <p:ph idx="1" type="body"/>
          </p:nvPr>
        </p:nvPicPr>
        <p:blipFill rotWithShape="1">
          <a:blip r:embed="rId3">
            <a:alphaModFix/>
          </a:blip>
          <a:srcRect b="0" l="0" r="0" t="0"/>
          <a:stretch/>
        </p:blipFill>
        <p:spPr>
          <a:xfrm>
            <a:off x="953932" y="1565648"/>
            <a:ext cx="5801784" cy="4351338"/>
          </a:xfrm>
          <a:prstGeom prst="rect">
            <a:avLst/>
          </a:prstGeom>
          <a:noFill/>
          <a:ln>
            <a:noFill/>
          </a:ln>
        </p:spPr>
      </p:pic>
      <p:sp>
        <p:nvSpPr>
          <p:cNvPr id="112" name="Google Shape;112;p5"/>
          <p:cNvSpPr txBox="1"/>
          <p:nvPr/>
        </p:nvSpPr>
        <p:spPr>
          <a:xfrm>
            <a:off x="7386918" y="1690688"/>
            <a:ext cx="4365811"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Left left case and right right case are resolved through single right rotation and single left rotation respectively.</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Right left case and left right case are resoved through double rotations.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Right rotate</a:t>
            </a:r>
            <a:endParaRPr/>
          </a:p>
        </p:txBody>
      </p:sp>
      <p:pic>
        <p:nvPicPr>
          <p:cNvPr id="118" name="Google Shape;118;p6"/>
          <p:cNvPicPr preferRelativeResize="0"/>
          <p:nvPr>
            <p:ph idx="1" type="body"/>
          </p:nvPr>
        </p:nvPicPr>
        <p:blipFill rotWithShape="1">
          <a:blip r:embed="rId3">
            <a:alphaModFix/>
          </a:blip>
          <a:srcRect b="0" l="0" r="0" t="0"/>
          <a:stretch/>
        </p:blipFill>
        <p:spPr>
          <a:xfrm>
            <a:off x="6096000" y="870465"/>
            <a:ext cx="5210676" cy="492271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Left Rotate</a:t>
            </a:r>
            <a:endParaRPr/>
          </a:p>
        </p:txBody>
      </p:sp>
      <p:pic>
        <p:nvPicPr>
          <p:cNvPr id="124" name="Google Shape;124;p7"/>
          <p:cNvPicPr preferRelativeResize="0"/>
          <p:nvPr>
            <p:ph idx="1" type="body"/>
          </p:nvPr>
        </p:nvPicPr>
        <p:blipFill rotWithShape="1">
          <a:blip r:embed="rId3">
            <a:alphaModFix/>
          </a:blip>
          <a:srcRect b="0" l="0" r="0" t="0"/>
          <a:stretch/>
        </p:blipFill>
        <p:spPr>
          <a:xfrm>
            <a:off x="5518485" y="866033"/>
            <a:ext cx="5294898" cy="528035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30" name="Google Shape;130;p8"/>
          <p:cNvPicPr preferRelativeResize="0"/>
          <p:nvPr>
            <p:ph idx="1" type="body"/>
          </p:nvPr>
        </p:nvPicPr>
        <p:blipFill rotWithShape="1">
          <a:blip r:embed="rId3">
            <a:alphaModFix/>
          </a:blip>
          <a:srcRect b="0" l="0" r="0" t="0"/>
          <a:stretch/>
        </p:blipFill>
        <p:spPr>
          <a:xfrm>
            <a:off x="2759384" y="1791650"/>
            <a:ext cx="6286500" cy="2362200"/>
          </a:xfrm>
          <a:prstGeom prst="rect">
            <a:avLst/>
          </a:prstGeom>
          <a:noFill/>
          <a:ln>
            <a:noFill/>
          </a:ln>
        </p:spPr>
      </p:pic>
      <p:pic>
        <p:nvPicPr>
          <p:cNvPr id="131" name="Google Shape;131;p8"/>
          <p:cNvPicPr preferRelativeResize="0"/>
          <p:nvPr/>
        </p:nvPicPr>
        <p:blipFill rotWithShape="1">
          <a:blip r:embed="rId4">
            <a:alphaModFix/>
          </a:blip>
          <a:srcRect b="0" l="0" r="0" t="0"/>
          <a:stretch/>
        </p:blipFill>
        <p:spPr>
          <a:xfrm>
            <a:off x="2759385" y="4369681"/>
            <a:ext cx="6324600" cy="2314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37" name="Google Shape;137;p9"/>
          <p:cNvPicPr preferRelativeResize="0"/>
          <p:nvPr>
            <p:ph idx="1" type="body"/>
          </p:nvPr>
        </p:nvPicPr>
        <p:blipFill rotWithShape="1">
          <a:blip r:embed="rId3">
            <a:alphaModFix/>
          </a:blip>
          <a:srcRect b="0" l="0" r="0" t="0"/>
          <a:stretch/>
        </p:blipFill>
        <p:spPr>
          <a:xfrm>
            <a:off x="2786062" y="1027906"/>
            <a:ext cx="6315075" cy="2571750"/>
          </a:xfrm>
          <a:prstGeom prst="rect">
            <a:avLst/>
          </a:prstGeom>
          <a:noFill/>
          <a:ln>
            <a:noFill/>
          </a:ln>
        </p:spPr>
      </p:pic>
      <p:pic>
        <p:nvPicPr>
          <p:cNvPr id="138" name="Google Shape;138;p9"/>
          <p:cNvPicPr preferRelativeResize="0"/>
          <p:nvPr/>
        </p:nvPicPr>
        <p:blipFill rotWithShape="1">
          <a:blip r:embed="rId4">
            <a:alphaModFix/>
          </a:blip>
          <a:srcRect b="0" l="0" r="0" t="0"/>
          <a:stretch/>
        </p:blipFill>
        <p:spPr>
          <a:xfrm>
            <a:off x="2919412" y="3599656"/>
            <a:ext cx="6353175" cy="2476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Insertion </a:t>
            </a:r>
            <a:endParaRPr/>
          </a:p>
        </p:txBody>
      </p:sp>
      <p:pic>
        <p:nvPicPr>
          <p:cNvPr id="144" name="Google Shape;144;p10"/>
          <p:cNvPicPr preferRelativeResize="0"/>
          <p:nvPr>
            <p:ph idx="1" type="body"/>
          </p:nvPr>
        </p:nvPicPr>
        <p:blipFill rotWithShape="1">
          <a:blip r:embed="rId3">
            <a:alphaModFix/>
          </a:blip>
          <a:srcRect b="0" l="0" r="0" t="0"/>
          <a:stretch/>
        </p:blipFill>
        <p:spPr>
          <a:xfrm>
            <a:off x="1882505" y="1901276"/>
            <a:ext cx="7855538" cy="43513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50" name="Google Shape;150;p11"/>
          <p:cNvPicPr preferRelativeResize="0"/>
          <p:nvPr>
            <p:ph idx="1" type="body"/>
          </p:nvPr>
        </p:nvPicPr>
        <p:blipFill rotWithShape="1">
          <a:blip r:embed="rId3">
            <a:alphaModFix/>
          </a:blip>
          <a:srcRect b="0" l="0" r="0" t="0"/>
          <a:stretch/>
        </p:blipFill>
        <p:spPr>
          <a:xfrm>
            <a:off x="3166372" y="1825625"/>
            <a:ext cx="5859256" cy="43513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56" name="Google Shape;156;p12"/>
          <p:cNvPicPr preferRelativeResize="0"/>
          <p:nvPr>
            <p:ph idx="1" type="body"/>
          </p:nvPr>
        </p:nvPicPr>
        <p:blipFill rotWithShape="1">
          <a:blip r:embed="rId3">
            <a:alphaModFix/>
          </a:blip>
          <a:srcRect b="0" l="0" r="0" t="0"/>
          <a:stretch/>
        </p:blipFill>
        <p:spPr>
          <a:xfrm>
            <a:off x="3183037" y="1825625"/>
            <a:ext cx="5825925" cy="435133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62" name="Google Shape;162;p13"/>
          <p:cNvPicPr preferRelativeResize="0"/>
          <p:nvPr>
            <p:ph idx="1" type="body"/>
          </p:nvPr>
        </p:nvPicPr>
        <p:blipFill rotWithShape="1">
          <a:blip r:embed="rId3">
            <a:alphaModFix/>
          </a:blip>
          <a:srcRect b="0" l="0" r="0" t="0"/>
          <a:stretch/>
        </p:blipFill>
        <p:spPr>
          <a:xfrm>
            <a:off x="3193655" y="1825625"/>
            <a:ext cx="5804690" cy="435133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Insertion in AVL Algorithm</a:t>
            </a:r>
            <a:endParaRPr/>
          </a:p>
        </p:txBody>
      </p:sp>
      <p:sp>
        <p:nvSpPr>
          <p:cNvPr id="168" name="Google Shape;168;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None/>
            </a:pPr>
            <a:r>
              <a:rPr lang="en-US"/>
              <a:t>In the recursive BST insert, after insertion, we get pointers to all ancestors one by one in a bottom-up manner. So we don’t need parent pointer to travel up. The recursive code itself travels up and visits all the ancestors of the newly inserted node. </a:t>
            </a:r>
            <a:br>
              <a:rPr lang="en-US"/>
            </a:br>
            <a:r>
              <a:rPr lang="en-US"/>
              <a:t>1) Perform the normal BST insertion. </a:t>
            </a:r>
            <a:br>
              <a:rPr lang="en-US"/>
            </a:br>
            <a:r>
              <a:rPr lang="en-US"/>
              <a:t>2) The current node must be one of the ancestors of the newly inserted node. Update the height of the current node. </a:t>
            </a:r>
            <a:br>
              <a:rPr lang="en-US"/>
            </a:br>
            <a:r>
              <a:rPr lang="en-US"/>
              <a:t>3) Get the balance factor (left subtree height – right subtree height) of the current node. </a:t>
            </a:r>
            <a:br>
              <a:rPr lang="en-US"/>
            </a:br>
            <a:r>
              <a:rPr lang="en-US"/>
              <a:t>4) If balance factor is greater than 1, then the current node is unbalanced and we are either in Left Left case or left Right case. To check whether it is left left case or not, compare the newly inserted key with the key in left subtree root. </a:t>
            </a:r>
            <a:br>
              <a:rPr lang="en-US"/>
            </a:br>
            <a:r>
              <a:rPr lang="en-US"/>
              <a:t>5) If balance factor is less than -1, then the current node is unbalanced and we are either in Right Right case or Right-Left case. To check whether it is Right Right case or not, compare the newly inserted key with the key in right subtree root.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Deletion in AVL Algorithm</a:t>
            </a:r>
            <a:endParaRPr/>
          </a:p>
        </p:txBody>
      </p:sp>
      <p:sp>
        <p:nvSpPr>
          <p:cNvPr id="174" name="Google Shape;174;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Let w be the node to be deleted </a:t>
            </a:r>
            <a:br>
              <a:rPr lang="en-US"/>
            </a:br>
            <a:r>
              <a:rPr b="1" lang="en-US"/>
              <a:t>1)</a:t>
            </a:r>
            <a:r>
              <a:rPr lang="en-US"/>
              <a:t> Perform standard BST delete for w. </a:t>
            </a:r>
            <a:br>
              <a:rPr lang="en-US"/>
            </a:br>
            <a:r>
              <a:rPr b="1" lang="en-US"/>
              <a:t>2)</a:t>
            </a:r>
            <a:r>
              <a:rPr lang="en-US"/>
              <a:t> Starting from w, travel up and find the first unbalanced node. Let z be the first unbalanced node, y be the larger height child of z, and x be the larger height child of y. Note that the definitions of x and y are different from insertion. </a:t>
            </a:r>
            <a:br>
              <a:rPr lang="en-US"/>
            </a:br>
            <a:r>
              <a:rPr b="1" lang="en-US"/>
              <a:t>3)</a:t>
            </a:r>
            <a:r>
              <a:rPr lang="en-US"/>
              <a:t> Re-balance the tree by performing appropriate rotations on the subtree rooted with z. There can be 4 possible cases that needs to be handled as x, y and z can be arranged in 4 ways. Following are the possible 4 arrangements: </a:t>
            </a:r>
            <a:br>
              <a:rPr lang="en-US"/>
            </a:br>
            <a:r>
              <a:rPr lang="en-US"/>
              <a:t>a) y is left child of z and x is left child of y (Left Left Case) </a:t>
            </a:r>
            <a:br>
              <a:rPr lang="en-US"/>
            </a:br>
            <a:r>
              <a:rPr lang="en-US"/>
              <a:t>b) y is left child of z and x is right child of y (Left Right Case) </a:t>
            </a:r>
            <a:br>
              <a:rPr lang="en-US"/>
            </a:br>
            <a:r>
              <a:rPr lang="en-US"/>
              <a:t>c) y is right child of z and x is right child of y (Right Right Case) </a:t>
            </a:r>
            <a:br>
              <a:rPr lang="en-US"/>
            </a:br>
            <a:r>
              <a:rPr lang="en-US"/>
              <a:t>d) y is right child of z and x is left child of y (Right Left Case)</a:t>
            </a:r>
            <a:br>
              <a:rPr lang="en-US"/>
            </a:br>
            <a:r>
              <a:rPr lang="en-US"/>
              <a:t>Like insertion, following are the operations to be performed in above mentioned 4 cases. Note that, unlike insertion, fixing the node z won’t fix the complete AVL tree. After fixing z, we may have to fix ancestors of z as well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2021-12-09T02:20:05Z</dcterms:created>
  <dc:creator>hp</dc:creator>
</cp:coreProperties>
</file>