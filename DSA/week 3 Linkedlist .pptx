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6858000" cx="12192000"/>
  <p:notesSz cx="6858000" cy="9144000"/>
  <p:embeddedFontLst>
    <p:embeddedFont>
      <p:font typeface="Helvetica Neue"/>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55" roundtripDataSignature="AMtx7micKGAoxZO8KfSq7xBrrXnigzsJ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9D8E06-935D-4B84-986C-13F84BA173EA}">
  <a:tblStyle styleId="{9B9D8E06-935D-4B84-986C-13F84BA173E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HelveticaNeue-regular.fntdata"/><Relationship Id="rId50" Type="http://schemas.openxmlformats.org/officeDocument/2006/relationships/slide" Target="slides/slide44.xml"/><Relationship Id="rId53" Type="http://schemas.openxmlformats.org/officeDocument/2006/relationships/font" Target="fonts/HelveticaNeue-italic.fntdata"/><Relationship Id="rId52" Type="http://schemas.openxmlformats.org/officeDocument/2006/relationships/font" Target="fonts/HelveticaNeue-bold.fntdata"/><Relationship Id="rId11" Type="http://schemas.openxmlformats.org/officeDocument/2006/relationships/slide" Target="slides/slide5.xml"/><Relationship Id="rId55" Type="http://customschemas.google.com/relationships/presentationmetadata" Target="metadata"/><Relationship Id="rId10" Type="http://schemas.openxmlformats.org/officeDocument/2006/relationships/slide" Target="slides/slide4.xml"/><Relationship Id="rId54" Type="http://schemas.openxmlformats.org/officeDocument/2006/relationships/font" Target="fonts/HelveticaNeue-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a:solidFill>
                  <a:srgbClr val="40424E"/>
                </a:solidFill>
                <a:latin typeface="Arial"/>
                <a:ea typeface="Arial"/>
                <a:cs typeface="Arial"/>
                <a:sym typeface="Arial"/>
              </a:rPr>
              <a:t>Why Linked List?</a:t>
            </a:r>
            <a:br>
              <a:rPr b="0" i="0" lang="en-US">
                <a:solidFill>
                  <a:srgbClr val="40424E"/>
                </a:solidFill>
                <a:latin typeface="Arial"/>
                <a:ea typeface="Arial"/>
                <a:cs typeface="Arial"/>
                <a:sym typeface="Arial"/>
              </a:rPr>
            </a:br>
            <a:r>
              <a:rPr b="0" i="0" lang="en-US">
                <a:solidFill>
                  <a:srgbClr val="40424E"/>
                </a:solidFill>
                <a:latin typeface="Arial"/>
                <a:ea typeface="Arial"/>
                <a:cs typeface="Arial"/>
                <a:sym typeface="Arial"/>
              </a:rPr>
              <a:t>Arrays can be used to store linear data of similar types, but arrays have the following limitations.</a:t>
            </a:r>
            <a:br>
              <a:rPr b="0" i="0" lang="en-US">
                <a:solidFill>
                  <a:srgbClr val="40424E"/>
                </a:solidFill>
                <a:latin typeface="Arial"/>
                <a:ea typeface="Arial"/>
                <a:cs typeface="Arial"/>
                <a:sym typeface="Arial"/>
              </a:rPr>
            </a:br>
            <a:r>
              <a:rPr b="1" i="0" lang="en-US">
                <a:solidFill>
                  <a:srgbClr val="40424E"/>
                </a:solidFill>
                <a:latin typeface="Arial"/>
                <a:ea typeface="Arial"/>
                <a:cs typeface="Arial"/>
                <a:sym typeface="Arial"/>
              </a:rPr>
              <a:t>1)</a:t>
            </a:r>
            <a:r>
              <a:rPr b="0" i="0" lang="en-US">
                <a:solidFill>
                  <a:srgbClr val="40424E"/>
                </a:solidFill>
                <a:latin typeface="Arial"/>
                <a:ea typeface="Arial"/>
                <a:cs typeface="Arial"/>
                <a:sym typeface="Arial"/>
              </a:rPr>
              <a:t> The size of the arrays is fixed: So we must know the upper limit on the number of elements in advance. Also, generally, the allocated memory is equal to the upper limit irrespective of the usage.</a:t>
            </a:r>
            <a:br>
              <a:rPr b="0" i="0" lang="en-US">
                <a:solidFill>
                  <a:srgbClr val="40424E"/>
                </a:solidFill>
                <a:latin typeface="Arial"/>
                <a:ea typeface="Arial"/>
                <a:cs typeface="Arial"/>
                <a:sym typeface="Arial"/>
              </a:rPr>
            </a:br>
            <a:r>
              <a:rPr b="1" i="0" lang="en-US">
                <a:solidFill>
                  <a:srgbClr val="40424E"/>
                </a:solidFill>
                <a:latin typeface="Arial"/>
                <a:ea typeface="Arial"/>
                <a:cs typeface="Arial"/>
                <a:sym typeface="Arial"/>
              </a:rPr>
              <a:t>2)</a:t>
            </a:r>
            <a:r>
              <a:rPr b="0" i="0" lang="en-US">
                <a:solidFill>
                  <a:srgbClr val="40424E"/>
                </a:solidFill>
                <a:latin typeface="Arial"/>
                <a:ea typeface="Arial"/>
                <a:cs typeface="Arial"/>
                <a:sym typeface="Arial"/>
              </a:rPr>
              <a:t> Inserting a new element in an array of elements is expensive because the room has to be created for the new elements and to create room existing elements have to be shifted.</a:t>
            </a:r>
            <a:endParaRPr/>
          </a:p>
          <a:p>
            <a:pPr indent="0" lvl="0" marL="0" rtl="0" algn="l">
              <a:spcBef>
                <a:spcPts val="0"/>
              </a:spcBef>
              <a:spcAft>
                <a:spcPts val="0"/>
              </a:spcAft>
              <a:buNone/>
            </a:pPr>
            <a:r>
              <a:rPr b="0" i="0" lang="en-US">
                <a:solidFill>
                  <a:srgbClr val="40424E"/>
                </a:solidFill>
                <a:latin typeface="Arial"/>
                <a:ea typeface="Arial"/>
                <a:cs typeface="Arial"/>
                <a:sym typeface="Arial"/>
              </a:rPr>
              <a:t>For example, in a system, if we maintain a sorted list of IDs in an array id[].</a:t>
            </a:r>
            <a:endParaRPr/>
          </a:p>
          <a:p>
            <a:pPr indent="0" lvl="0" marL="0" rtl="0" algn="l">
              <a:spcBef>
                <a:spcPts val="0"/>
              </a:spcBef>
              <a:spcAft>
                <a:spcPts val="0"/>
              </a:spcAft>
              <a:buNone/>
            </a:pPr>
            <a:r>
              <a:rPr b="0" i="0" lang="en-US">
                <a:solidFill>
                  <a:srgbClr val="40424E"/>
                </a:solidFill>
                <a:latin typeface="Arial"/>
                <a:ea typeface="Arial"/>
                <a:cs typeface="Arial"/>
                <a:sym typeface="Arial"/>
              </a:rPr>
              <a:t>id[] = [1000, 1010, 1050, 2000, 2040].</a:t>
            </a:r>
            <a:endParaRPr/>
          </a:p>
          <a:p>
            <a:pPr indent="0" lvl="0" marL="0" rtl="0" algn="l">
              <a:spcBef>
                <a:spcPts val="0"/>
              </a:spcBef>
              <a:spcAft>
                <a:spcPts val="0"/>
              </a:spcAft>
              <a:buNone/>
            </a:pPr>
            <a:br>
              <a:rPr lang="en-US"/>
            </a:br>
            <a:r>
              <a:rPr b="0" i="0" lang="en-US">
                <a:solidFill>
                  <a:srgbClr val="40424E"/>
                </a:solidFill>
                <a:latin typeface="Arial"/>
                <a:ea typeface="Arial"/>
                <a:cs typeface="Arial"/>
                <a:sym typeface="Arial"/>
              </a:rPr>
              <a:t>And if we want to insert a new ID 1005, then to maintain the sorted order, we have to move all the elements after 1000 (excluding 1000).</a:t>
            </a:r>
            <a:br>
              <a:rPr b="0" i="0" lang="en-US">
                <a:solidFill>
                  <a:srgbClr val="40424E"/>
                </a:solidFill>
                <a:latin typeface="Arial"/>
                <a:ea typeface="Arial"/>
                <a:cs typeface="Arial"/>
                <a:sym typeface="Arial"/>
              </a:rPr>
            </a:br>
            <a:r>
              <a:rPr b="0" i="0" lang="en-US">
                <a:solidFill>
                  <a:srgbClr val="40424E"/>
                </a:solidFill>
                <a:latin typeface="Arial"/>
                <a:ea typeface="Arial"/>
                <a:cs typeface="Arial"/>
                <a:sym typeface="Arial"/>
              </a:rPr>
              <a:t>Deletion is also expensive with arrays until unless some special techniques are used. For example, to delete 1010 in id[], everything after 1010 has to be moved.</a:t>
            </a:r>
            <a:endParaRPr/>
          </a:p>
          <a:p>
            <a:pPr indent="0" lvl="0" marL="0" rtl="0" algn="l">
              <a:spcBef>
                <a:spcPts val="0"/>
              </a:spcBef>
              <a:spcAft>
                <a:spcPts val="0"/>
              </a:spcAft>
              <a:buNone/>
            </a:pPr>
            <a:r>
              <a:t/>
            </a:r>
            <a:endParaRPr/>
          </a:p>
        </p:txBody>
      </p:sp>
      <p:sp>
        <p:nvSpPr>
          <p:cNvPr id="99" name="Google Shape;9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47" name="Google Shape;24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57" name="Google Shape;25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63" name="Google Shape;26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69" name="Google Shape;26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76" name="Google Shape;27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82" name="Google Shape;28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88" name="Google Shape;28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94" name="Google Shape;29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01" name="Google Shape;30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08" name="Google Shape;30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14" name="Google Shape;31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21" name="Google Shape;32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28" name="Google Shape;32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34" name="Google Shape;33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41" name="Google Shape;34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47" name="Google Shape;34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54" name="Google Shape;35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7eb3471d37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7eb3471d37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g37eb3471d37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7eb3471d37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68" name="Google Shape;368;g37eb3471d37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4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2"/>
          <p:cNvSpPr/>
          <p:nvPr>
            <p:ph idx="2" type="pic"/>
          </p:nvPr>
        </p:nvSpPr>
        <p:spPr>
          <a:xfrm>
            <a:off x="5183188" y="987425"/>
            <a:ext cx="6172200" cy="4873625"/>
          </a:xfrm>
          <a:prstGeom prst="rect">
            <a:avLst/>
          </a:prstGeom>
          <a:noFill/>
          <a:ln>
            <a:noFill/>
          </a:ln>
        </p:spPr>
      </p:sp>
      <p:sp>
        <p:nvSpPr>
          <p:cNvPr id="68" name="Google Shape;68;p5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5.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CS 2001 Data Structures</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Week 3 </a:t>
            </a:r>
            <a:endParaRPr/>
          </a:p>
          <a:p>
            <a:pPr indent="0" lvl="0" marL="0" rtl="0" algn="ctr">
              <a:lnSpc>
                <a:spcPct val="90000"/>
              </a:lnSpc>
              <a:spcBef>
                <a:spcPts val="1000"/>
              </a:spcBef>
              <a:spcAft>
                <a:spcPts val="0"/>
              </a:spcAft>
              <a:buClr>
                <a:schemeClr val="dk1"/>
              </a:buClr>
              <a:buSzPts val="2400"/>
              <a:buNone/>
            </a:pPr>
            <a:r>
              <a:rPr lang="en-US"/>
              <a:t>Linked List(Singly, Doubly, Circular)</a:t>
            </a:r>
            <a:endParaRPr/>
          </a:p>
          <a:p>
            <a:pPr indent="0" lvl="0" marL="0" rtl="0" algn="ctr">
              <a:lnSpc>
                <a:spcPct val="90000"/>
              </a:lnSpc>
              <a:spcBef>
                <a:spcPts val="100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Agenda</a:t>
            </a:r>
            <a:endParaRPr/>
          </a:p>
        </p:txBody>
      </p:sp>
      <p:sp>
        <p:nvSpPr>
          <p:cNvPr id="95" name="Google Shape;95;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Limitation of Arrays.</a:t>
            </a:r>
            <a:endParaRPr/>
          </a:p>
          <a:p>
            <a:pPr indent="-228600" lvl="0" marL="228600" rtl="0" algn="l">
              <a:lnSpc>
                <a:spcPct val="90000"/>
              </a:lnSpc>
              <a:spcBef>
                <a:spcPts val="1000"/>
              </a:spcBef>
              <a:spcAft>
                <a:spcPts val="0"/>
              </a:spcAft>
              <a:buClr>
                <a:schemeClr val="dk1"/>
              </a:buClr>
              <a:buSzPts val="2800"/>
              <a:buChar char="•"/>
            </a:pPr>
            <a:r>
              <a:rPr lang="en-US"/>
              <a:t>What is a linked list? How is it structured? What is a node? </a:t>
            </a:r>
            <a:endParaRPr/>
          </a:p>
          <a:p>
            <a:pPr indent="-228600" lvl="0" marL="228600" rtl="0" algn="l">
              <a:lnSpc>
                <a:spcPct val="90000"/>
              </a:lnSpc>
              <a:spcBef>
                <a:spcPts val="1000"/>
              </a:spcBef>
              <a:spcAft>
                <a:spcPts val="0"/>
              </a:spcAft>
              <a:buClr>
                <a:schemeClr val="dk1"/>
              </a:buClr>
              <a:buSzPts val="2800"/>
              <a:buChar char="•"/>
            </a:pPr>
            <a:r>
              <a:rPr lang="en-US"/>
              <a:t>Vanilla implementation of a list(singly linked list</a:t>
            </a:r>
            <a:endParaRPr/>
          </a:p>
          <a:p>
            <a:pPr indent="-228600" lvl="0" marL="228600" rtl="0" algn="l">
              <a:lnSpc>
                <a:spcPct val="90000"/>
              </a:lnSpc>
              <a:spcBef>
                <a:spcPts val="1000"/>
              </a:spcBef>
              <a:spcAft>
                <a:spcPts val="0"/>
              </a:spcAft>
              <a:buClr>
                <a:schemeClr val="dk1"/>
              </a:buClr>
              <a:buSzPts val="2800"/>
              <a:buChar char="•"/>
            </a:pPr>
            <a:r>
              <a:rPr lang="en-US"/>
              <a:t>Insertions (at the head, at the tail, or with respect to an order), delete, search and other utility functions like reversing a linked list etc.</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B3835"/>
              </a:buClr>
              <a:buSzPts val="4400"/>
              <a:buFont typeface="Calibri"/>
              <a:buNone/>
            </a:pPr>
            <a:r>
              <a:rPr b="0" i="0" lang="en-US">
                <a:solidFill>
                  <a:srgbClr val="3B3835"/>
                </a:solidFill>
              </a:rPr>
              <a:t>Limitations Of Arrays </a:t>
            </a:r>
            <a:endParaRPr/>
          </a:p>
        </p:txBody>
      </p:sp>
      <p:sp>
        <p:nvSpPr>
          <p:cNvPr id="102" name="Google Shape;10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B3835"/>
              </a:buClr>
              <a:buSzPts val="2800"/>
              <a:buChar char="•"/>
            </a:pPr>
            <a:r>
              <a:rPr b="0" i="0" lang="en-US">
                <a:solidFill>
                  <a:srgbClr val="3B3835"/>
                </a:solidFill>
                <a:latin typeface="Calibri"/>
                <a:ea typeface="Calibri"/>
                <a:cs typeface="Calibri"/>
                <a:sym typeface="Calibri"/>
              </a:rPr>
              <a:t>Arrays are simple to understand and elements of an array are easily accessible </a:t>
            </a:r>
            <a:endParaRPr/>
          </a:p>
          <a:p>
            <a:pPr indent="-228600" lvl="0" marL="228600" rtl="0" algn="l">
              <a:lnSpc>
                <a:spcPct val="90000"/>
              </a:lnSpc>
              <a:spcBef>
                <a:spcPts val="1000"/>
              </a:spcBef>
              <a:spcAft>
                <a:spcPts val="0"/>
              </a:spcAft>
              <a:buClr>
                <a:srgbClr val="3B3835"/>
              </a:buClr>
              <a:buSzPts val="2800"/>
              <a:buChar char="•"/>
            </a:pPr>
            <a:r>
              <a:rPr b="0" i="0" lang="en-US">
                <a:solidFill>
                  <a:srgbClr val="3B3835"/>
                </a:solidFill>
                <a:latin typeface="Calibri"/>
                <a:ea typeface="Calibri"/>
                <a:cs typeface="Calibri"/>
                <a:sym typeface="Calibri"/>
              </a:rPr>
              <a:t>But arrays have some limitations. </a:t>
            </a:r>
            <a:endParaRPr/>
          </a:p>
          <a:p>
            <a:pPr indent="-228600" lvl="1" marL="685800" rtl="0" algn="l">
              <a:lnSpc>
                <a:spcPct val="90000"/>
              </a:lnSpc>
              <a:spcBef>
                <a:spcPts val="500"/>
              </a:spcBef>
              <a:spcAft>
                <a:spcPts val="0"/>
              </a:spcAft>
              <a:buClr>
                <a:srgbClr val="3B3835"/>
              </a:buClr>
              <a:buSzPts val="2400"/>
              <a:buChar char="•"/>
            </a:pPr>
            <a:r>
              <a:rPr b="0" i="0" lang="en-US">
                <a:solidFill>
                  <a:srgbClr val="3B3835"/>
                </a:solidFill>
                <a:latin typeface="Calibri"/>
                <a:ea typeface="Calibri"/>
                <a:cs typeface="Calibri"/>
                <a:sym typeface="Calibri"/>
              </a:rPr>
              <a:t>Arrays have a fixed dimension. </a:t>
            </a:r>
            <a:endParaRPr>
              <a:solidFill>
                <a:srgbClr val="3B3835"/>
              </a:solidFill>
              <a:latin typeface="Calibri"/>
              <a:ea typeface="Calibri"/>
              <a:cs typeface="Calibri"/>
              <a:sym typeface="Calibri"/>
            </a:endParaRPr>
          </a:p>
          <a:p>
            <a:pPr indent="-228600" lvl="1" marL="685800" rtl="0" algn="l">
              <a:lnSpc>
                <a:spcPct val="90000"/>
              </a:lnSpc>
              <a:spcBef>
                <a:spcPts val="500"/>
              </a:spcBef>
              <a:spcAft>
                <a:spcPts val="0"/>
              </a:spcAft>
              <a:buClr>
                <a:srgbClr val="3B3835"/>
              </a:buClr>
              <a:buSzPts val="2400"/>
              <a:buChar char="•"/>
            </a:pPr>
            <a:r>
              <a:rPr b="0" i="0" lang="en-US">
                <a:solidFill>
                  <a:srgbClr val="3B3835"/>
                </a:solidFill>
                <a:latin typeface="Calibri"/>
                <a:ea typeface="Calibri"/>
                <a:cs typeface="Calibri"/>
                <a:sym typeface="Calibri"/>
              </a:rPr>
              <a:t>Once the size of an array is decided it can not be increased or decreased during execution.</a:t>
            </a:r>
            <a:endParaRPr/>
          </a:p>
          <a:p>
            <a:pPr indent="-228600" lvl="1" marL="685800" rtl="0" algn="l">
              <a:lnSpc>
                <a:spcPct val="90000"/>
              </a:lnSpc>
              <a:spcBef>
                <a:spcPts val="500"/>
              </a:spcBef>
              <a:spcAft>
                <a:spcPts val="0"/>
              </a:spcAft>
              <a:buClr>
                <a:srgbClr val="3B3835"/>
              </a:buClr>
              <a:buSzPts val="2400"/>
              <a:buChar char="•"/>
            </a:pPr>
            <a:r>
              <a:rPr b="0" i="0" lang="en-US">
                <a:solidFill>
                  <a:srgbClr val="3B3835"/>
                </a:solidFill>
                <a:latin typeface="Calibri"/>
                <a:ea typeface="Calibri"/>
                <a:cs typeface="Calibri"/>
                <a:sym typeface="Calibri"/>
              </a:rPr>
              <a:t>Array elements are always stored in contiguous memory locations.</a:t>
            </a:r>
            <a:endParaRPr/>
          </a:p>
          <a:p>
            <a:pPr indent="-228600" lvl="1" marL="685800" rtl="0" algn="l">
              <a:lnSpc>
                <a:spcPct val="90000"/>
              </a:lnSpc>
              <a:spcBef>
                <a:spcPts val="500"/>
              </a:spcBef>
              <a:spcAft>
                <a:spcPts val="0"/>
              </a:spcAft>
              <a:buClr>
                <a:srgbClr val="3B3835"/>
              </a:buClr>
              <a:buSzPts val="2400"/>
              <a:buChar char="•"/>
            </a:pPr>
            <a:r>
              <a:rPr b="0" i="0" lang="en-US">
                <a:solidFill>
                  <a:srgbClr val="3B3835"/>
                </a:solidFill>
                <a:latin typeface="Calibri"/>
                <a:ea typeface="Calibri"/>
                <a:cs typeface="Calibri"/>
                <a:sym typeface="Calibri"/>
              </a:rPr>
              <a:t>Operations like insertion or deletion of the array are pretty tedious. </a:t>
            </a:r>
            <a:endParaRPr>
              <a:solidFill>
                <a:srgbClr val="3B3835"/>
              </a:solidFill>
              <a:latin typeface="Calibri"/>
              <a:ea typeface="Calibri"/>
              <a:cs typeface="Calibri"/>
              <a:sym typeface="Calibri"/>
            </a:endParaRPr>
          </a:p>
          <a:p>
            <a:pPr indent="-280988" lvl="1" marL="280988" rtl="0" algn="l">
              <a:lnSpc>
                <a:spcPct val="90000"/>
              </a:lnSpc>
              <a:spcBef>
                <a:spcPts val="500"/>
              </a:spcBef>
              <a:spcAft>
                <a:spcPts val="0"/>
              </a:spcAft>
              <a:buClr>
                <a:srgbClr val="3B3835"/>
              </a:buClr>
              <a:buSzPts val="2800"/>
              <a:buChar char="•"/>
            </a:pPr>
            <a:r>
              <a:rPr lang="en-US" sz="2800">
                <a:solidFill>
                  <a:srgbClr val="3B3835"/>
                </a:solidFill>
                <a:latin typeface="Calibri"/>
                <a:ea typeface="Calibri"/>
                <a:cs typeface="Calibri"/>
                <a:sym typeface="Calibri"/>
              </a:rPr>
              <a:t>To over come this limitations we use linked list.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Array Vs. Linked List</a:t>
            </a:r>
            <a:endParaRPr b="1"/>
          </a:p>
        </p:txBody>
      </p:sp>
      <p:graphicFrame>
        <p:nvGraphicFramePr>
          <p:cNvPr id="109" name="Google Shape;109;p4"/>
          <p:cNvGraphicFramePr/>
          <p:nvPr/>
        </p:nvGraphicFramePr>
        <p:xfrm>
          <a:off x="838200" y="1825625"/>
          <a:ext cx="3000000" cy="3000000"/>
        </p:xfrm>
        <a:graphic>
          <a:graphicData uri="http://schemas.openxmlformats.org/drawingml/2006/table">
            <a:tbl>
              <a:tblPr bandRow="1" firstRow="1">
                <a:noFill/>
                <a:tableStyleId>{9B9D8E06-935D-4B84-986C-13F84BA173EA}</a:tableStyleId>
              </a:tblPr>
              <a:tblGrid>
                <a:gridCol w="5257800"/>
                <a:gridCol w="5257800"/>
              </a:tblGrid>
              <a:tr h="370850">
                <a:tc>
                  <a:txBody>
                    <a:bodyPr/>
                    <a:lstStyle/>
                    <a:p>
                      <a:pPr indent="0" lvl="0" marL="0" marR="0" rtl="0" algn="ctr">
                        <a:spcBef>
                          <a:spcPts val="0"/>
                        </a:spcBef>
                        <a:spcAft>
                          <a:spcPts val="0"/>
                        </a:spcAft>
                        <a:buNone/>
                      </a:pPr>
                      <a:r>
                        <a:rPr lang="en-US" sz="1800" u="none" cap="none" strike="noStrike"/>
                        <a:t>Array </a:t>
                      </a:r>
                      <a:endParaRPr sz="1800" u="none" cap="none" strike="noStrike"/>
                    </a:p>
                  </a:txBody>
                  <a:tcPr marT="45725" marB="45725" marR="91450" marL="91450"/>
                </a:tc>
                <a:tc>
                  <a:txBody>
                    <a:bodyPr/>
                    <a:lstStyle/>
                    <a:p>
                      <a:pPr indent="0" lvl="0" marL="0" marR="0" rtl="0" algn="ctr">
                        <a:spcBef>
                          <a:spcPts val="0"/>
                        </a:spcBef>
                        <a:spcAft>
                          <a:spcPts val="0"/>
                        </a:spcAft>
                        <a:buNone/>
                      </a:pPr>
                      <a:r>
                        <a:rPr lang="en-US" sz="1800" u="none" cap="none" strike="noStrike"/>
                        <a:t>Linked List</a:t>
                      </a:r>
                      <a:endParaRPr sz="1800" u="none" cap="none" strike="noStrike"/>
                    </a:p>
                  </a:txBody>
                  <a:tcPr marT="45725" marB="45725" marR="91450" marL="91450"/>
                </a:tc>
              </a:tr>
              <a:tr h="370850">
                <a:tc>
                  <a:txBody>
                    <a:bodyPr/>
                    <a:lstStyle/>
                    <a:p>
                      <a:pPr indent="0" lvl="0" marL="0" marR="0" rtl="0" algn="l">
                        <a:spcBef>
                          <a:spcPts val="0"/>
                        </a:spcBef>
                        <a:spcAft>
                          <a:spcPts val="0"/>
                        </a:spcAft>
                        <a:buNone/>
                      </a:pPr>
                      <a:r>
                        <a:rPr b="0" i="0" lang="en-US" sz="1800" u="none" cap="none" strike="noStrike">
                          <a:solidFill>
                            <a:srgbClr val="3B3835"/>
                          </a:solidFill>
                          <a:latin typeface="Helvetica Neue"/>
                          <a:ea typeface="Helvetica Neue"/>
                          <a:cs typeface="Helvetica Neue"/>
                          <a:sym typeface="Helvetica Neue"/>
                        </a:rPr>
                        <a:t>Fixed size: Resizing is expensive</a:t>
                      </a:r>
                      <a:endParaRPr sz="1800"/>
                    </a:p>
                  </a:txBody>
                  <a:tcPr marT="45725" marB="45725" marR="91450" marL="91450"/>
                </a:tc>
                <a:tc>
                  <a:txBody>
                    <a:bodyPr/>
                    <a:lstStyle/>
                    <a:p>
                      <a:pPr indent="0" lvl="0" marL="0" marR="0" rtl="0" algn="l">
                        <a:spcBef>
                          <a:spcPts val="0"/>
                        </a:spcBef>
                        <a:spcAft>
                          <a:spcPts val="0"/>
                        </a:spcAft>
                        <a:buNone/>
                      </a:pPr>
                      <a:r>
                        <a:rPr b="0" i="0" lang="en-US" sz="1800">
                          <a:solidFill>
                            <a:srgbClr val="3B3835"/>
                          </a:solidFill>
                          <a:latin typeface="Helvetica Neue"/>
                          <a:ea typeface="Helvetica Neue"/>
                          <a:cs typeface="Helvetica Neue"/>
                          <a:sym typeface="Helvetica Neue"/>
                        </a:rPr>
                        <a:t>Fixed size: Dynamic size </a:t>
                      </a:r>
                      <a:endParaRPr sz="1800"/>
                    </a:p>
                  </a:txBody>
                  <a:tcPr marT="45725" marB="45725" marR="91450" marL="91450"/>
                </a:tc>
              </a:tr>
              <a:tr h="370850">
                <a:tc>
                  <a:txBody>
                    <a:bodyPr/>
                    <a:lstStyle/>
                    <a:p>
                      <a:pPr indent="0" lvl="0" marL="0" marR="0" rtl="0" algn="l">
                        <a:spcBef>
                          <a:spcPts val="0"/>
                        </a:spcBef>
                        <a:spcAft>
                          <a:spcPts val="0"/>
                        </a:spcAft>
                        <a:buNone/>
                      </a:pPr>
                      <a:r>
                        <a:rPr b="0" i="0" lang="en-US" sz="1800">
                          <a:solidFill>
                            <a:srgbClr val="3B3835"/>
                          </a:solidFill>
                          <a:latin typeface="Helvetica Neue"/>
                          <a:ea typeface="Helvetica Neue"/>
                          <a:cs typeface="Helvetica Neue"/>
                          <a:sym typeface="Helvetica Neue"/>
                        </a:rPr>
                        <a:t>Insertions and Deletions are inefficient: Elements are usually shifted</a:t>
                      </a:r>
                      <a:endParaRPr sz="1800"/>
                    </a:p>
                  </a:txBody>
                  <a:tcPr marT="45725" marB="45725" marR="91450" marL="91450"/>
                </a:tc>
                <a:tc>
                  <a:txBody>
                    <a:bodyPr/>
                    <a:lstStyle/>
                    <a:p>
                      <a:pPr indent="0" lvl="0" marL="0" marR="0" rtl="0" algn="l">
                        <a:spcBef>
                          <a:spcPts val="0"/>
                        </a:spcBef>
                        <a:spcAft>
                          <a:spcPts val="0"/>
                        </a:spcAft>
                        <a:buNone/>
                      </a:pPr>
                      <a:r>
                        <a:rPr b="0" i="0" lang="en-US" sz="1800">
                          <a:solidFill>
                            <a:srgbClr val="3B3835"/>
                          </a:solidFill>
                          <a:latin typeface="Helvetica Neue"/>
                          <a:ea typeface="Helvetica Neue"/>
                          <a:cs typeface="Helvetica Neue"/>
                          <a:sym typeface="Helvetica Neue"/>
                        </a:rPr>
                        <a:t>Insertions and Deletions are efficient: No shifting </a:t>
                      </a:r>
                      <a:endParaRPr sz="1800"/>
                    </a:p>
                  </a:txBody>
                  <a:tcPr marT="45725" marB="45725" marR="91450" marL="91450"/>
                </a:tc>
              </a:tr>
              <a:tr h="370850">
                <a:tc>
                  <a:txBody>
                    <a:bodyPr/>
                    <a:lstStyle/>
                    <a:p>
                      <a:pPr indent="0" lvl="0" marL="0" marR="0" rtl="0" algn="l">
                        <a:spcBef>
                          <a:spcPts val="0"/>
                        </a:spcBef>
                        <a:spcAft>
                          <a:spcPts val="0"/>
                        </a:spcAft>
                        <a:buNone/>
                      </a:pPr>
                      <a:r>
                        <a:rPr b="0" i="0" lang="en-US" sz="1800">
                          <a:solidFill>
                            <a:srgbClr val="3B3835"/>
                          </a:solidFill>
                          <a:latin typeface="Helvetica Neue"/>
                          <a:ea typeface="Helvetica Neue"/>
                          <a:cs typeface="Helvetica Neue"/>
                          <a:sym typeface="Helvetica Neue"/>
                        </a:rPr>
                        <a:t>Random access i.e., efficient indexing</a:t>
                      </a:r>
                      <a:endParaRPr sz="1800"/>
                    </a:p>
                  </a:txBody>
                  <a:tcPr marT="45725" marB="45725" marR="91450" marL="91450"/>
                </a:tc>
                <a:tc>
                  <a:txBody>
                    <a:bodyPr/>
                    <a:lstStyle/>
                    <a:p>
                      <a:pPr indent="0" lvl="0" marL="0" marR="0" rtl="0" algn="l">
                        <a:spcBef>
                          <a:spcPts val="0"/>
                        </a:spcBef>
                        <a:spcAft>
                          <a:spcPts val="0"/>
                        </a:spcAft>
                        <a:buNone/>
                      </a:pPr>
                      <a:r>
                        <a:rPr b="0" i="0" lang="en-US" sz="1800">
                          <a:solidFill>
                            <a:srgbClr val="3B3835"/>
                          </a:solidFill>
                          <a:latin typeface="Helvetica Neue"/>
                          <a:ea typeface="Helvetica Neue"/>
                          <a:cs typeface="Helvetica Neue"/>
                          <a:sym typeface="Helvetica Neue"/>
                        </a:rPr>
                        <a:t>No random access </a:t>
                      </a:r>
                      <a:endParaRPr/>
                    </a:p>
                    <a:p>
                      <a:pPr indent="0" lvl="0" marL="0" marR="0" rtl="0" algn="l">
                        <a:spcBef>
                          <a:spcPts val="0"/>
                        </a:spcBef>
                        <a:spcAft>
                          <a:spcPts val="0"/>
                        </a:spcAft>
                        <a:buNone/>
                      </a:pPr>
                      <a:r>
                        <a:rPr b="0" i="0" lang="en-US" sz="1800">
                          <a:solidFill>
                            <a:srgbClr val="3B3835"/>
                          </a:solidFill>
                          <a:latin typeface="Helvetica Neue"/>
                          <a:ea typeface="Helvetica Neue"/>
                          <a:cs typeface="Helvetica Neue"/>
                          <a:sym typeface="Helvetica Neue"/>
                        </a:rPr>
                        <a:t>Not suitable for operations requiring accessing elements by index such as sorting </a:t>
                      </a:r>
                      <a:endParaRPr sz="1800"/>
                    </a:p>
                  </a:txBody>
                  <a:tcPr marT="45725" marB="45725" marR="91450" marL="91450"/>
                </a:tc>
              </a:tr>
              <a:tr h="370850">
                <a:tc>
                  <a:txBody>
                    <a:bodyPr/>
                    <a:lstStyle/>
                    <a:p>
                      <a:pPr indent="0" lvl="0" marL="0" marR="0" rtl="0" algn="l">
                        <a:spcBef>
                          <a:spcPts val="0"/>
                        </a:spcBef>
                        <a:spcAft>
                          <a:spcPts val="0"/>
                        </a:spcAft>
                        <a:buNone/>
                      </a:pPr>
                      <a:r>
                        <a:rPr b="0" i="0" lang="en-US" sz="1800">
                          <a:solidFill>
                            <a:srgbClr val="3B3835"/>
                          </a:solidFill>
                          <a:latin typeface="Helvetica Neue"/>
                          <a:ea typeface="Helvetica Neue"/>
                          <a:cs typeface="Helvetica Neue"/>
                          <a:sym typeface="Helvetica Neue"/>
                        </a:rPr>
                        <a:t>No memory waste if the array is full or almost full; otherwise may result in much memory waste. </a:t>
                      </a:r>
                      <a:endParaRPr sz="1800"/>
                    </a:p>
                  </a:txBody>
                  <a:tcPr marT="45725" marB="45725" marR="91450" marL="91450"/>
                </a:tc>
                <a:tc>
                  <a:txBody>
                    <a:bodyPr/>
                    <a:lstStyle/>
                    <a:p>
                      <a:pPr indent="0" lvl="0" marL="0" marR="0" rtl="0" algn="l">
                        <a:spcBef>
                          <a:spcPts val="0"/>
                        </a:spcBef>
                        <a:spcAft>
                          <a:spcPts val="0"/>
                        </a:spcAft>
                        <a:buNone/>
                      </a:pPr>
                      <a:r>
                        <a:rPr b="0" i="0" lang="en-US" sz="1800">
                          <a:solidFill>
                            <a:srgbClr val="3B3835"/>
                          </a:solidFill>
                          <a:latin typeface="Helvetica Neue"/>
                          <a:ea typeface="Helvetica Neue"/>
                          <a:cs typeface="Helvetica Neue"/>
                          <a:sym typeface="Helvetica Neue"/>
                        </a:rPr>
                        <a:t>Since memory is allocated dynamically(acc. to our need) there is no waste of memory. </a:t>
                      </a:r>
                      <a:endParaRPr sz="1800"/>
                    </a:p>
                  </a:txBody>
                  <a:tcPr marT="45725" marB="45725" marR="91450" marL="91450"/>
                </a:tc>
              </a:tr>
              <a:tr h="370850">
                <a:tc>
                  <a:txBody>
                    <a:bodyPr/>
                    <a:lstStyle/>
                    <a:p>
                      <a:pPr indent="0" lvl="0" marL="0" marR="0" rtl="0" algn="l">
                        <a:lnSpc>
                          <a:spcPct val="100000"/>
                        </a:lnSpc>
                        <a:spcBef>
                          <a:spcPts val="0"/>
                        </a:spcBef>
                        <a:spcAft>
                          <a:spcPts val="0"/>
                        </a:spcAft>
                        <a:buClr>
                          <a:srgbClr val="3B3835"/>
                        </a:buClr>
                        <a:buSzPts val="1800"/>
                        <a:buFont typeface="Helvetica Neue"/>
                        <a:buNone/>
                      </a:pPr>
                      <a:r>
                        <a:rPr b="0" i="0" lang="en-US" sz="1800">
                          <a:solidFill>
                            <a:srgbClr val="3B3835"/>
                          </a:solidFill>
                          <a:latin typeface="Helvetica Neue"/>
                          <a:ea typeface="Helvetica Neue"/>
                          <a:cs typeface="Helvetica Neue"/>
                          <a:sym typeface="Helvetica Neue"/>
                        </a:rPr>
                        <a:t>Sequential access is faster [Reason: Elements in contiguous memory locations]</a:t>
                      </a:r>
                      <a:endParaRPr sz="1800"/>
                    </a:p>
                  </a:txBody>
                  <a:tcPr marT="45725" marB="45725" marR="91450" marL="91450"/>
                </a:tc>
                <a:tc>
                  <a:txBody>
                    <a:bodyPr/>
                    <a:lstStyle/>
                    <a:p>
                      <a:pPr indent="0" lvl="0" marL="0" marR="0" rtl="0" algn="l">
                        <a:lnSpc>
                          <a:spcPct val="100000"/>
                        </a:lnSpc>
                        <a:spcBef>
                          <a:spcPts val="0"/>
                        </a:spcBef>
                        <a:spcAft>
                          <a:spcPts val="0"/>
                        </a:spcAft>
                        <a:buClr>
                          <a:srgbClr val="3B3835"/>
                        </a:buClr>
                        <a:buSzPts val="1800"/>
                        <a:buFont typeface="Helvetica Neue"/>
                        <a:buNone/>
                      </a:pPr>
                      <a:r>
                        <a:rPr b="0" i="0" lang="en-US" sz="1800">
                          <a:solidFill>
                            <a:srgbClr val="3B3835"/>
                          </a:solidFill>
                          <a:latin typeface="Helvetica Neue"/>
                          <a:ea typeface="Helvetica Neue"/>
                          <a:cs typeface="Helvetica Neue"/>
                          <a:sym typeface="Helvetica Neue"/>
                        </a:rPr>
                        <a:t>Sequential access is slow [Reason: Elements not in contiguous memory locations]</a:t>
                      </a:r>
                      <a:endParaRPr sz="1800"/>
                    </a:p>
                  </a:txBody>
                  <a:tcPr marT="45725" marB="45725" marR="91450" marL="9145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Vectors VS Linked list </a:t>
            </a:r>
            <a:endParaRPr/>
          </a:p>
        </p:txBody>
      </p:sp>
      <p:graphicFrame>
        <p:nvGraphicFramePr>
          <p:cNvPr id="115" name="Google Shape;115;p5"/>
          <p:cNvGraphicFramePr/>
          <p:nvPr/>
        </p:nvGraphicFramePr>
        <p:xfrm>
          <a:off x="838200" y="1825625"/>
          <a:ext cx="3000000" cy="3000000"/>
        </p:xfrm>
        <a:graphic>
          <a:graphicData uri="http://schemas.openxmlformats.org/drawingml/2006/table">
            <a:tbl>
              <a:tblPr bandRow="1" firstRow="1">
                <a:noFill/>
                <a:tableStyleId>{9B9D8E06-935D-4B84-986C-13F84BA173EA}</a:tableStyleId>
              </a:tblPr>
              <a:tblGrid>
                <a:gridCol w="5257800"/>
                <a:gridCol w="5257800"/>
              </a:tblGrid>
              <a:tr h="370850">
                <a:tc>
                  <a:txBody>
                    <a:bodyPr/>
                    <a:lstStyle/>
                    <a:p>
                      <a:pPr indent="0" lvl="0" marL="0" marR="0" rtl="0" algn="l">
                        <a:spcBef>
                          <a:spcPts val="0"/>
                        </a:spcBef>
                        <a:spcAft>
                          <a:spcPts val="0"/>
                        </a:spcAft>
                        <a:buNone/>
                      </a:pPr>
                      <a:r>
                        <a:rPr lang="en-US" sz="1800"/>
                        <a:t>Vectors</a:t>
                      </a:r>
                      <a:endParaRPr sz="1800"/>
                    </a:p>
                  </a:txBody>
                  <a:tcPr marT="45725" marB="45725" marR="91450" marL="91450"/>
                </a:tc>
                <a:tc>
                  <a:txBody>
                    <a:bodyPr/>
                    <a:lstStyle/>
                    <a:p>
                      <a:pPr indent="0" lvl="0" marL="0" marR="0" rtl="0" algn="l">
                        <a:spcBef>
                          <a:spcPts val="0"/>
                        </a:spcBef>
                        <a:spcAft>
                          <a:spcPts val="0"/>
                        </a:spcAft>
                        <a:buNone/>
                      </a:pPr>
                      <a:r>
                        <a:rPr lang="en-US" sz="1800"/>
                        <a:t>Linkedlist</a:t>
                      </a:r>
                      <a:endParaRPr sz="1800"/>
                    </a:p>
                  </a:txBody>
                  <a:tcPr marT="45725" marB="45725" marR="91450" marL="91450"/>
                </a:tc>
              </a:tr>
              <a:tr h="370850">
                <a:tc>
                  <a:txBody>
                    <a:bodyPr/>
                    <a:lstStyle/>
                    <a:p>
                      <a:pPr indent="0" lvl="0" marL="0" marR="0" rtl="0" algn="l">
                        <a:spcBef>
                          <a:spcPts val="0"/>
                        </a:spcBef>
                        <a:spcAft>
                          <a:spcPts val="0"/>
                        </a:spcAft>
                        <a:buNone/>
                      </a:pPr>
                      <a:r>
                        <a:rPr b="0" lang="en-US" sz="1250"/>
                        <a:t>It has contiguous memory.</a:t>
                      </a:r>
                      <a:endParaRPr/>
                    </a:p>
                  </a:txBody>
                  <a:tcPr marT="133350" marB="133350" marR="95250" marL="95250" anchor="ctr"/>
                </a:tc>
                <a:tc>
                  <a:txBody>
                    <a:bodyPr/>
                    <a:lstStyle/>
                    <a:p>
                      <a:pPr indent="0" lvl="0" marL="0" marR="0" rtl="0" algn="l">
                        <a:spcBef>
                          <a:spcPts val="0"/>
                        </a:spcBef>
                        <a:spcAft>
                          <a:spcPts val="0"/>
                        </a:spcAft>
                        <a:buNone/>
                      </a:pPr>
                      <a:r>
                        <a:rPr b="0" lang="en-US" sz="1250"/>
                        <a:t>While it has non-contiguous memory.</a:t>
                      </a:r>
                      <a:endParaRPr/>
                    </a:p>
                  </a:txBody>
                  <a:tcPr marT="133350" marB="133350" marR="95250" marL="95250" anchor="ctr"/>
                </a:tc>
              </a:tr>
              <a:tr h="370850">
                <a:tc>
                  <a:txBody>
                    <a:bodyPr/>
                    <a:lstStyle/>
                    <a:p>
                      <a:pPr indent="0" lvl="0" marL="0" marR="0" rtl="0" algn="l">
                        <a:spcBef>
                          <a:spcPts val="0"/>
                        </a:spcBef>
                        <a:spcAft>
                          <a:spcPts val="0"/>
                        </a:spcAft>
                        <a:buNone/>
                      </a:pPr>
                      <a:r>
                        <a:rPr b="0" lang="en-US" sz="1250"/>
                        <a:t>Vector may have a default size.</a:t>
                      </a:r>
                      <a:endParaRPr/>
                    </a:p>
                  </a:txBody>
                  <a:tcPr marT="133350" marB="133350" marR="95250" marL="95250" anchor="ctr"/>
                </a:tc>
                <a:tc>
                  <a:txBody>
                    <a:bodyPr/>
                    <a:lstStyle/>
                    <a:p>
                      <a:pPr indent="0" lvl="0" marL="0" marR="0" rtl="0" algn="l">
                        <a:spcBef>
                          <a:spcPts val="0"/>
                        </a:spcBef>
                        <a:spcAft>
                          <a:spcPts val="0"/>
                        </a:spcAft>
                        <a:buNone/>
                      </a:pPr>
                      <a:r>
                        <a:rPr b="0" lang="en-US" sz="1250"/>
                        <a:t>List does not have default size.</a:t>
                      </a:r>
                      <a:endParaRPr/>
                    </a:p>
                  </a:txBody>
                  <a:tcPr marT="133350" marB="133350" marR="95250" marL="95250" anchor="ctr"/>
                </a:tc>
              </a:tr>
              <a:tr h="370850">
                <a:tc>
                  <a:txBody>
                    <a:bodyPr/>
                    <a:lstStyle/>
                    <a:p>
                      <a:pPr indent="0" lvl="0" marL="0" marR="0" rtl="0" algn="l">
                        <a:spcBef>
                          <a:spcPts val="0"/>
                        </a:spcBef>
                        <a:spcAft>
                          <a:spcPts val="0"/>
                        </a:spcAft>
                        <a:buNone/>
                      </a:pPr>
                      <a:r>
                        <a:rPr b="0" lang="en-US" sz="1250"/>
                        <a:t>In vector, each element only requires the space for itself only.</a:t>
                      </a:r>
                      <a:endParaRPr/>
                    </a:p>
                  </a:txBody>
                  <a:tcPr marT="133350" marB="133350" marR="95250" marL="95250" anchor="ctr"/>
                </a:tc>
                <a:tc>
                  <a:txBody>
                    <a:bodyPr/>
                    <a:lstStyle/>
                    <a:p>
                      <a:pPr indent="0" lvl="0" marL="0" marR="0" rtl="0" algn="l">
                        <a:spcBef>
                          <a:spcPts val="0"/>
                        </a:spcBef>
                        <a:spcAft>
                          <a:spcPts val="0"/>
                        </a:spcAft>
                        <a:buNone/>
                      </a:pPr>
                      <a:r>
                        <a:rPr b="0" lang="en-US" sz="1250"/>
                        <a:t>In list, each element requires extra space for the node which holds the element, including pointers to the next and previous elements in the list.</a:t>
                      </a:r>
                      <a:endParaRPr/>
                    </a:p>
                  </a:txBody>
                  <a:tcPr marT="133350" marB="133350" marR="95250" marL="95250" anchor="ctr"/>
                </a:tc>
              </a:tr>
              <a:tr h="370850">
                <a:tc>
                  <a:txBody>
                    <a:bodyPr/>
                    <a:lstStyle/>
                    <a:p>
                      <a:pPr indent="0" lvl="0" marL="0" marR="0" rtl="0" algn="l">
                        <a:spcBef>
                          <a:spcPts val="0"/>
                        </a:spcBef>
                        <a:spcAft>
                          <a:spcPts val="0"/>
                        </a:spcAft>
                        <a:buNone/>
                      </a:pPr>
                      <a:r>
                        <a:rPr b="0" lang="en-US" sz="1250"/>
                        <a:t>Insertion at the end requires constant time but insertion elsewhere is costly.</a:t>
                      </a:r>
                      <a:endParaRPr/>
                    </a:p>
                  </a:txBody>
                  <a:tcPr marT="133350" marB="133350" marR="95250" marL="95250" anchor="ctr"/>
                </a:tc>
                <a:tc>
                  <a:txBody>
                    <a:bodyPr/>
                    <a:lstStyle/>
                    <a:p>
                      <a:pPr indent="0" lvl="0" marL="0" marR="0" rtl="0" algn="l">
                        <a:spcBef>
                          <a:spcPts val="0"/>
                        </a:spcBef>
                        <a:spcAft>
                          <a:spcPts val="0"/>
                        </a:spcAft>
                        <a:buNone/>
                      </a:pPr>
                      <a:r>
                        <a:rPr b="0" lang="en-US" sz="1250"/>
                        <a:t>Insertion is cheap no matter where in the list it occurs.</a:t>
                      </a:r>
                      <a:endParaRPr/>
                    </a:p>
                  </a:txBody>
                  <a:tcPr marT="133350" marB="133350" marR="95250" marL="95250" anchor="ctr"/>
                </a:tc>
              </a:tr>
              <a:tr h="370850">
                <a:tc>
                  <a:txBody>
                    <a:bodyPr/>
                    <a:lstStyle/>
                    <a:p>
                      <a:pPr indent="0" lvl="0" marL="0" marR="0" rtl="0" algn="l">
                        <a:spcBef>
                          <a:spcPts val="0"/>
                        </a:spcBef>
                        <a:spcAft>
                          <a:spcPts val="0"/>
                        </a:spcAft>
                        <a:buNone/>
                      </a:pPr>
                      <a:r>
                        <a:rPr b="0" lang="en-US" sz="1250"/>
                        <a:t>Deletion at the end of the vector needs constant time but for the rest it is O(n).</a:t>
                      </a:r>
                      <a:endParaRPr/>
                    </a:p>
                  </a:txBody>
                  <a:tcPr marT="133350" marB="133350" marR="95250" marL="95250" anchor="ctr"/>
                </a:tc>
                <a:tc>
                  <a:txBody>
                    <a:bodyPr/>
                    <a:lstStyle/>
                    <a:p>
                      <a:pPr indent="0" lvl="0" marL="0" marR="0" rtl="0" algn="l">
                        <a:spcBef>
                          <a:spcPts val="0"/>
                        </a:spcBef>
                        <a:spcAft>
                          <a:spcPts val="0"/>
                        </a:spcAft>
                        <a:buNone/>
                      </a:pPr>
                      <a:r>
                        <a:rPr b="0" lang="en-US" sz="1250"/>
                        <a:t>Deletion is cheap no matter where in the list it occurs.</a:t>
                      </a:r>
                      <a:endParaRPr/>
                    </a:p>
                  </a:txBody>
                  <a:tcPr marT="133350" marB="133350" marR="95250" marL="95250" anchor="ctr"/>
                </a:tc>
              </a:tr>
              <a:tr h="370850">
                <a:tc>
                  <a:txBody>
                    <a:bodyPr/>
                    <a:lstStyle/>
                    <a:p>
                      <a:pPr indent="0" lvl="0" marL="0" marR="0" rtl="0" algn="l">
                        <a:spcBef>
                          <a:spcPts val="0"/>
                        </a:spcBef>
                        <a:spcAft>
                          <a:spcPts val="0"/>
                        </a:spcAft>
                        <a:buNone/>
                      </a:pPr>
                      <a:r>
                        <a:rPr b="0" lang="en-US" sz="1250"/>
                        <a:t>Random access of elements is possible.</a:t>
                      </a:r>
                      <a:endParaRPr/>
                    </a:p>
                  </a:txBody>
                  <a:tcPr marT="133350" marB="133350" marR="95250" marL="95250" anchor="ctr"/>
                </a:tc>
                <a:tc>
                  <a:txBody>
                    <a:bodyPr/>
                    <a:lstStyle/>
                    <a:p>
                      <a:pPr indent="0" lvl="0" marL="0" marR="0" rtl="0" algn="l">
                        <a:spcBef>
                          <a:spcPts val="0"/>
                        </a:spcBef>
                        <a:spcAft>
                          <a:spcPts val="0"/>
                        </a:spcAft>
                        <a:buNone/>
                      </a:pPr>
                      <a:r>
                        <a:rPr b="0" lang="en-US" sz="1250"/>
                        <a:t>Random access of elements is not possible.</a:t>
                      </a:r>
                      <a:endParaRPr/>
                    </a:p>
                  </a:txBody>
                  <a:tcPr marT="133350" marB="133350" marR="95250" marL="95250"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Introduction:</a:t>
            </a:r>
            <a:endParaRPr/>
          </a:p>
        </p:txBody>
      </p:sp>
      <p:sp>
        <p:nvSpPr>
          <p:cNvPr id="121" name="Google Shape;121;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B3835"/>
              </a:buClr>
              <a:buSzPts val="2800"/>
              <a:buChar char="•"/>
            </a:pPr>
            <a:r>
              <a:rPr b="0" i="0" lang="en-US">
                <a:solidFill>
                  <a:srgbClr val="3B3835"/>
                </a:solidFill>
                <a:latin typeface="Calibri"/>
                <a:ea typeface="Calibri"/>
                <a:cs typeface="Calibri"/>
                <a:sym typeface="Calibri"/>
              </a:rPr>
              <a:t>A data structure is a logical representation of data and operation that can be performed on the data. </a:t>
            </a:r>
            <a:endParaRPr>
              <a:solidFill>
                <a:srgbClr val="3B3835"/>
              </a:solidFill>
              <a:latin typeface="Calibri"/>
              <a:ea typeface="Calibri"/>
              <a:cs typeface="Calibri"/>
              <a:sym typeface="Calibri"/>
            </a:endParaRPr>
          </a:p>
          <a:p>
            <a:pPr indent="-514350" lvl="1" marL="971550" rtl="0" algn="l">
              <a:lnSpc>
                <a:spcPct val="90000"/>
              </a:lnSpc>
              <a:spcBef>
                <a:spcPts val="500"/>
              </a:spcBef>
              <a:spcAft>
                <a:spcPts val="0"/>
              </a:spcAft>
              <a:buClr>
                <a:srgbClr val="3B3835"/>
              </a:buClr>
              <a:buSzPts val="2400"/>
              <a:buFont typeface="Calibri"/>
              <a:buAutoNum type="arabicPeriod"/>
            </a:pPr>
            <a:r>
              <a:rPr lang="en-US">
                <a:solidFill>
                  <a:srgbClr val="3B3835"/>
                </a:solidFill>
                <a:latin typeface="Calibri"/>
                <a:ea typeface="Calibri"/>
                <a:cs typeface="Calibri"/>
                <a:sym typeface="Calibri"/>
              </a:rPr>
              <a:t>L</a:t>
            </a:r>
            <a:r>
              <a:rPr b="0" i="0" lang="en-US">
                <a:solidFill>
                  <a:srgbClr val="3B3835"/>
                </a:solidFill>
                <a:latin typeface="Calibri"/>
                <a:ea typeface="Calibri"/>
                <a:cs typeface="Calibri"/>
                <a:sym typeface="Calibri"/>
              </a:rPr>
              <a:t>inear data structure </a:t>
            </a:r>
            <a:endParaRPr/>
          </a:p>
          <a:p>
            <a:pPr indent="-514350" lvl="1" marL="971550" rtl="0" algn="l">
              <a:lnSpc>
                <a:spcPct val="90000"/>
              </a:lnSpc>
              <a:spcBef>
                <a:spcPts val="500"/>
              </a:spcBef>
              <a:spcAft>
                <a:spcPts val="0"/>
              </a:spcAft>
              <a:buClr>
                <a:srgbClr val="3B3835"/>
              </a:buClr>
              <a:buSzPts val="2400"/>
              <a:buFont typeface="Calibri"/>
              <a:buAutoNum type="arabicPeriod"/>
            </a:pPr>
            <a:r>
              <a:rPr b="0" i="0" lang="en-US">
                <a:solidFill>
                  <a:srgbClr val="3B3835"/>
                </a:solidFill>
                <a:latin typeface="Calibri"/>
                <a:ea typeface="Calibri"/>
                <a:cs typeface="Calibri"/>
                <a:sym typeface="Calibri"/>
              </a:rPr>
              <a:t>Non linear data structure </a:t>
            </a:r>
            <a:endParaRPr/>
          </a:p>
          <a:p>
            <a:pPr indent="-287338" lvl="1" marL="287338" rtl="0" algn="l">
              <a:lnSpc>
                <a:spcPct val="90000"/>
              </a:lnSpc>
              <a:spcBef>
                <a:spcPts val="500"/>
              </a:spcBef>
              <a:spcAft>
                <a:spcPts val="0"/>
              </a:spcAft>
              <a:buClr>
                <a:srgbClr val="3B3835"/>
              </a:buClr>
              <a:buSzPts val="2800"/>
              <a:buChar char="•"/>
            </a:pPr>
            <a:r>
              <a:rPr lang="en-US" sz="2800">
                <a:solidFill>
                  <a:srgbClr val="3B3835"/>
                </a:solidFill>
                <a:latin typeface="Calibri"/>
                <a:ea typeface="Calibri"/>
                <a:cs typeface="Calibri"/>
                <a:sym typeface="Calibri"/>
              </a:rPr>
              <a:t>Linear data structure is an order of data elements. They are </a:t>
            </a:r>
            <a:r>
              <a:rPr b="1" lang="en-US" sz="2800">
                <a:solidFill>
                  <a:srgbClr val="3B3835"/>
                </a:solidFill>
                <a:latin typeface="Calibri"/>
                <a:ea typeface="Calibri"/>
                <a:cs typeface="Calibri"/>
                <a:sym typeface="Calibri"/>
              </a:rPr>
              <a:t>arrays, stacks, queues, </a:t>
            </a:r>
            <a:r>
              <a:rPr lang="en-US" sz="2800">
                <a:solidFill>
                  <a:srgbClr val="3B3835"/>
                </a:solidFill>
                <a:latin typeface="Calibri"/>
                <a:ea typeface="Calibri"/>
                <a:cs typeface="Calibri"/>
                <a:sym typeface="Calibri"/>
              </a:rPr>
              <a:t>and </a:t>
            </a:r>
            <a:r>
              <a:rPr b="1" lang="en-US" sz="2800">
                <a:solidFill>
                  <a:srgbClr val="3B3835"/>
                </a:solidFill>
                <a:latin typeface="Calibri"/>
                <a:ea typeface="Calibri"/>
                <a:cs typeface="Calibri"/>
                <a:sym typeface="Calibri"/>
              </a:rPr>
              <a:t>linked lists</a:t>
            </a:r>
            <a:r>
              <a:rPr lang="en-US" sz="2800">
                <a:solidFill>
                  <a:srgbClr val="3B3835"/>
                </a:solidFill>
                <a:latin typeface="Calibri"/>
                <a:ea typeface="Calibri"/>
                <a:cs typeface="Calibri"/>
                <a:sym typeface="Calibri"/>
              </a:rPr>
              <a:t>.</a:t>
            </a:r>
            <a:endParaRPr sz="2800">
              <a:solidFill>
                <a:srgbClr val="3B3835"/>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Basic idea of Linked list</a:t>
            </a:r>
            <a:endParaRPr/>
          </a:p>
        </p:txBody>
      </p:sp>
      <p:pic>
        <p:nvPicPr>
          <p:cNvPr descr="linked-lists-2-638.jpg" id="127" name="Google Shape;127;p7"/>
          <p:cNvPicPr preferRelativeResize="0"/>
          <p:nvPr>
            <p:ph idx="1" type="body"/>
          </p:nvPr>
        </p:nvPicPr>
        <p:blipFill rotWithShape="1">
          <a:blip r:embed="rId3">
            <a:alphaModFix/>
          </a:blip>
          <a:srcRect b="0" l="0" r="0" t="0"/>
          <a:stretch/>
        </p:blipFill>
        <p:spPr>
          <a:xfrm>
            <a:off x="2013627" y="1196502"/>
            <a:ext cx="7957224" cy="498046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B3835"/>
              </a:buClr>
              <a:buSzPts val="4400"/>
              <a:buFont typeface="Calibri"/>
              <a:buNone/>
            </a:pPr>
            <a:r>
              <a:rPr b="0" i="0" lang="en-US">
                <a:solidFill>
                  <a:srgbClr val="3B3835"/>
                </a:solidFill>
              </a:rPr>
              <a:t>Linked list</a:t>
            </a:r>
            <a:endParaRPr/>
          </a:p>
        </p:txBody>
      </p:sp>
      <p:sp>
        <p:nvSpPr>
          <p:cNvPr id="133" name="Google Shape;133;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B3835"/>
              </a:buClr>
              <a:buSzPts val="2800"/>
              <a:buChar char="•"/>
            </a:pPr>
            <a:r>
              <a:rPr lang="en-US">
                <a:solidFill>
                  <a:srgbClr val="3B3835"/>
                </a:solidFill>
                <a:latin typeface="Calibri"/>
                <a:ea typeface="Calibri"/>
                <a:cs typeface="Calibri"/>
                <a:sym typeface="Calibri"/>
              </a:rPr>
              <a:t>L</a:t>
            </a:r>
            <a:r>
              <a:rPr b="0" i="0" lang="en-US">
                <a:solidFill>
                  <a:srgbClr val="3B3835"/>
                </a:solidFill>
                <a:latin typeface="Calibri"/>
                <a:ea typeface="Calibri"/>
                <a:cs typeface="Calibri"/>
                <a:sym typeface="Calibri"/>
              </a:rPr>
              <a:t>inked list is a linear data structure. It contains nodes. Each node contains two parts, </a:t>
            </a:r>
            <a:endParaRPr/>
          </a:p>
          <a:p>
            <a:pPr indent="-228600" lvl="0" marL="228600" rtl="0" algn="l">
              <a:lnSpc>
                <a:spcPct val="90000"/>
              </a:lnSpc>
              <a:spcBef>
                <a:spcPts val="1000"/>
              </a:spcBef>
              <a:spcAft>
                <a:spcPts val="0"/>
              </a:spcAft>
              <a:buClr>
                <a:srgbClr val="3B3835"/>
              </a:buClr>
              <a:buSzPts val="2800"/>
              <a:buChar char="•"/>
            </a:pPr>
            <a:r>
              <a:rPr b="0" i="0" lang="en-US">
                <a:solidFill>
                  <a:srgbClr val="3B3835"/>
                </a:solidFill>
                <a:latin typeface="Calibri"/>
                <a:ea typeface="Calibri"/>
                <a:cs typeface="Calibri"/>
                <a:sym typeface="Calibri"/>
              </a:rPr>
              <a:t>i.e. </a:t>
            </a:r>
            <a:r>
              <a:rPr b="1" i="0" lang="en-US">
                <a:solidFill>
                  <a:srgbClr val="3B3835"/>
                </a:solidFill>
                <a:latin typeface="Calibri"/>
                <a:ea typeface="Calibri"/>
                <a:cs typeface="Calibri"/>
                <a:sym typeface="Calibri"/>
              </a:rPr>
              <a:t>DATA</a:t>
            </a:r>
            <a:r>
              <a:rPr b="0" i="0" lang="en-US">
                <a:solidFill>
                  <a:srgbClr val="3B3835"/>
                </a:solidFill>
                <a:latin typeface="Calibri"/>
                <a:ea typeface="Calibri"/>
                <a:cs typeface="Calibri"/>
                <a:sym typeface="Calibri"/>
              </a:rPr>
              <a:t> part and </a:t>
            </a:r>
            <a:r>
              <a:rPr b="1" i="0" lang="en-US">
                <a:solidFill>
                  <a:srgbClr val="3B3835"/>
                </a:solidFill>
                <a:latin typeface="Calibri"/>
                <a:ea typeface="Calibri"/>
                <a:cs typeface="Calibri"/>
                <a:sym typeface="Calibri"/>
              </a:rPr>
              <a:t>LINK</a:t>
            </a:r>
            <a:r>
              <a:rPr b="0" i="0" lang="en-US">
                <a:solidFill>
                  <a:srgbClr val="3B3835"/>
                </a:solidFill>
                <a:latin typeface="Calibri"/>
                <a:ea typeface="Calibri"/>
                <a:cs typeface="Calibri"/>
                <a:sym typeface="Calibri"/>
              </a:rPr>
              <a:t> part. </a:t>
            </a:r>
            <a:endParaRPr/>
          </a:p>
          <a:p>
            <a:pPr indent="-228600" lvl="1" marL="685800" rtl="0" algn="l">
              <a:lnSpc>
                <a:spcPct val="90000"/>
              </a:lnSpc>
              <a:spcBef>
                <a:spcPts val="500"/>
              </a:spcBef>
              <a:spcAft>
                <a:spcPts val="0"/>
              </a:spcAft>
              <a:buClr>
                <a:srgbClr val="3B3835"/>
              </a:buClr>
              <a:buSzPts val="2400"/>
              <a:buChar char="•"/>
            </a:pPr>
            <a:r>
              <a:rPr b="0" i="0" lang="en-US">
                <a:solidFill>
                  <a:srgbClr val="3B3835"/>
                </a:solidFill>
                <a:latin typeface="Calibri"/>
                <a:ea typeface="Calibri"/>
                <a:cs typeface="Calibri"/>
                <a:sym typeface="Calibri"/>
              </a:rPr>
              <a:t>The </a:t>
            </a:r>
            <a:r>
              <a:rPr b="1" i="0" lang="en-US">
                <a:solidFill>
                  <a:srgbClr val="3B3835"/>
                </a:solidFill>
                <a:latin typeface="Calibri"/>
                <a:ea typeface="Calibri"/>
                <a:cs typeface="Calibri"/>
                <a:sym typeface="Calibri"/>
              </a:rPr>
              <a:t>data </a:t>
            </a:r>
            <a:r>
              <a:rPr b="0" i="0" lang="en-US">
                <a:solidFill>
                  <a:srgbClr val="3B3835"/>
                </a:solidFill>
                <a:latin typeface="Calibri"/>
                <a:ea typeface="Calibri"/>
                <a:cs typeface="Calibri"/>
                <a:sym typeface="Calibri"/>
              </a:rPr>
              <a:t>contains </a:t>
            </a:r>
            <a:r>
              <a:rPr b="1" i="0" lang="en-US">
                <a:solidFill>
                  <a:srgbClr val="3B3835"/>
                </a:solidFill>
                <a:latin typeface="Calibri"/>
                <a:ea typeface="Calibri"/>
                <a:cs typeface="Calibri"/>
                <a:sym typeface="Calibri"/>
              </a:rPr>
              <a:t>elements</a:t>
            </a:r>
            <a:r>
              <a:rPr b="0" i="0" lang="en-US">
                <a:solidFill>
                  <a:srgbClr val="3B3835"/>
                </a:solidFill>
                <a:latin typeface="Calibri"/>
                <a:ea typeface="Calibri"/>
                <a:cs typeface="Calibri"/>
                <a:sym typeface="Calibri"/>
              </a:rPr>
              <a:t> and </a:t>
            </a:r>
            <a:endParaRPr/>
          </a:p>
          <a:p>
            <a:pPr indent="-228600" lvl="1" marL="685800" rtl="0" algn="l">
              <a:lnSpc>
                <a:spcPct val="90000"/>
              </a:lnSpc>
              <a:spcBef>
                <a:spcPts val="500"/>
              </a:spcBef>
              <a:spcAft>
                <a:spcPts val="0"/>
              </a:spcAft>
              <a:buClr>
                <a:srgbClr val="3B3835"/>
              </a:buClr>
              <a:buSzPts val="2400"/>
              <a:buChar char="•"/>
            </a:pPr>
            <a:r>
              <a:rPr b="1" i="0" lang="en-US">
                <a:solidFill>
                  <a:srgbClr val="3B3835"/>
                </a:solidFill>
                <a:latin typeface="Calibri"/>
                <a:ea typeface="Calibri"/>
                <a:cs typeface="Calibri"/>
                <a:sym typeface="Calibri"/>
              </a:rPr>
              <a:t>Link</a:t>
            </a:r>
            <a:r>
              <a:rPr b="0" i="0" lang="en-US">
                <a:solidFill>
                  <a:srgbClr val="3B3835"/>
                </a:solidFill>
                <a:latin typeface="Calibri"/>
                <a:ea typeface="Calibri"/>
                <a:cs typeface="Calibri"/>
                <a:sym typeface="Calibri"/>
              </a:rPr>
              <a:t> contains </a:t>
            </a:r>
            <a:r>
              <a:rPr b="1" i="0" lang="en-US">
                <a:solidFill>
                  <a:srgbClr val="3B3835"/>
                </a:solidFill>
                <a:latin typeface="Calibri"/>
                <a:ea typeface="Calibri"/>
                <a:cs typeface="Calibri"/>
                <a:sym typeface="Calibri"/>
              </a:rPr>
              <a:t>address of another node</a:t>
            </a:r>
            <a:r>
              <a:rPr b="0" i="0" lang="en-US">
                <a:solidFill>
                  <a:srgbClr val="3B3835"/>
                </a:solidFill>
                <a:latin typeface="Calibri"/>
                <a:ea typeface="Calibri"/>
                <a:cs typeface="Calibri"/>
                <a:sym typeface="Calibri"/>
              </a:rPr>
              <a:t>.</a:t>
            </a:r>
            <a:endParaRPr/>
          </a:p>
          <a:p>
            <a:pPr indent="0" lvl="1" marL="457200" rtl="0" algn="l">
              <a:lnSpc>
                <a:spcPct val="90000"/>
              </a:lnSpc>
              <a:spcBef>
                <a:spcPts val="500"/>
              </a:spcBef>
              <a:spcAft>
                <a:spcPts val="0"/>
              </a:spcAft>
              <a:buClr>
                <a:schemeClr val="dk1"/>
              </a:buClr>
              <a:buSzPts val="2400"/>
              <a:buNone/>
            </a:pPr>
            <a:r>
              <a:t/>
            </a:r>
            <a:endParaRPr/>
          </a:p>
        </p:txBody>
      </p:sp>
      <p:pic>
        <p:nvPicPr>
          <p:cNvPr descr="Image result for linked list node" id="134" name="Google Shape;134;p8"/>
          <p:cNvPicPr preferRelativeResize="0"/>
          <p:nvPr/>
        </p:nvPicPr>
        <p:blipFill rotWithShape="1">
          <a:blip r:embed="rId3">
            <a:alphaModFix/>
          </a:blip>
          <a:srcRect b="0" l="0" r="0" t="0"/>
          <a:stretch/>
        </p:blipFill>
        <p:spPr>
          <a:xfrm>
            <a:off x="4574858" y="4524191"/>
            <a:ext cx="3895725" cy="1171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B3835"/>
              </a:buClr>
              <a:buSzPts val="4400"/>
              <a:buFont typeface="Calibri"/>
              <a:buNone/>
            </a:pPr>
            <a:r>
              <a:rPr b="0" i="0" lang="en-US">
                <a:solidFill>
                  <a:srgbClr val="3B3835"/>
                </a:solidFill>
              </a:rPr>
              <a:t>Types Of Linked Lists</a:t>
            </a:r>
            <a:endParaRPr/>
          </a:p>
        </p:txBody>
      </p:sp>
      <p:sp>
        <p:nvSpPr>
          <p:cNvPr id="140" name="Google Shape;140;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rgbClr val="3B3835"/>
              </a:buClr>
              <a:buSzPts val="2800"/>
              <a:buFont typeface="Calibri"/>
              <a:buAutoNum type="arabicPeriod"/>
            </a:pPr>
            <a:r>
              <a:rPr b="0" i="0" lang="en-US">
                <a:solidFill>
                  <a:srgbClr val="3B3835"/>
                </a:solidFill>
                <a:latin typeface="Calibri"/>
                <a:ea typeface="Calibri"/>
                <a:cs typeface="Calibri"/>
                <a:sym typeface="Calibri"/>
              </a:rPr>
              <a:t>Singly linked list </a:t>
            </a:r>
            <a:endParaRPr/>
          </a:p>
          <a:p>
            <a:pPr indent="-514350" lvl="0" marL="514350" rtl="0" algn="l">
              <a:lnSpc>
                <a:spcPct val="90000"/>
              </a:lnSpc>
              <a:spcBef>
                <a:spcPts val="1000"/>
              </a:spcBef>
              <a:spcAft>
                <a:spcPts val="0"/>
              </a:spcAft>
              <a:buClr>
                <a:srgbClr val="3B3835"/>
              </a:buClr>
              <a:buSzPts val="2800"/>
              <a:buFont typeface="Calibri"/>
              <a:buAutoNum type="arabicPeriod"/>
            </a:pPr>
            <a:r>
              <a:rPr b="0" i="0" lang="en-US">
                <a:solidFill>
                  <a:srgbClr val="3B3835"/>
                </a:solidFill>
                <a:latin typeface="Calibri"/>
                <a:ea typeface="Calibri"/>
                <a:cs typeface="Calibri"/>
                <a:sym typeface="Calibri"/>
              </a:rPr>
              <a:t>Doubly linked list </a:t>
            </a:r>
            <a:endParaRPr/>
          </a:p>
          <a:p>
            <a:pPr indent="-514350" lvl="0" marL="514350" rtl="0" algn="l">
              <a:lnSpc>
                <a:spcPct val="90000"/>
              </a:lnSpc>
              <a:spcBef>
                <a:spcPts val="1000"/>
              </a:spcBef>
              <a:spcAft>
                <a:spcPts val="0"/>
              </a:spcAft>
              <a:buClr>
                <a:srgbClr val="3B3835"/>
              </a:buClr>
              <a:buSzPts val="2800"/>
              <a:buFont typeface="Calibri"/>
              <a:buAutoNum type="arabicPeriod"/>
            </a:pPr>
            <a:r>
              <a:rPr b="0" i="0" lang="en-US">
                <a:solidFill>
                  <a:srgbClr val="3B3835"/>
                </a:solidFill>
                <a:latin typeface="Calibri"/>
                <a:ea typeface="Calibri"/>
                <a:cs typeface="Calibri"/>
                <a:sym typeface="Calibri"/>
              </a:rPr>
              <a:t>Circular linked list </a:t>
            </a:r>
            <a:endParaRPr/>
          </a:p>
          <a:p>
            <a:pPr indent="-514350" lvl="1" marL="971550" rtl="0" algn="l">
              <a:lnSpc>
                <a:spcPct val="90000"/>
              </a:lnSpc>
              <a:spcBef>
                <a:spcPts val="500"/>
              </a:spcBef>
              <a:spcAft>
                <a:spcPts val="0"/>
              </a:spcAft>
              <a:buClr>
                <a:srgbClr val="3B3835"/>
              </a:buClr>
              <a:buSzPts val="2400"/>
              <a:buChar char="•"/>
            </a:pPr>
            <a:r>
              <a:rPr lang="en-US">
                <a:solidFill>
                  <a:srgbClr val="3B3835"/>
                </a:solidFill>
                <a:latin typeface="Calibri"/>
                <a:ea typeface="Calibri"/>
                <a:cs typeface="Calibri"/>
                <a:sym typeface="Calibri"/>
              </a:rPr>
              <a:t>Circular singly linked list</a:t>
            </a:r>
            <a:endParaRPr/>
          </a:p>
          <a:p>
            <a:pPr indent="-514350" lvl="1" marL="971550" rtl="0" algn="l">
              <a:lnSpc>
                <a:spcPct val="90000"/>
              </a:lnSpc>
              <a:spcBef>
                <a:spcPts val="500"/>
              </a:spcBef>
              <a:spcAft>
                <a:spcPts val="0"/>
              </a:spcAft>
              <a:buClr>
                <a:srgbClr val="3B3835"/>
              </a:buClr>
              <a:buSzPts val="2400"/>
              <a:buChar char="•"/>
            </a:pPr>
            <a:r>
              <a:rPr b="0" i="0" lang="en-US">
                <a:solidFill>
                  <a:srgbClr val="3B3835"/>
                </a:solidFill>
                <a:latin typeface="Calibri"/>
                <a:ea typeface="Calibri"/>
                <a:cs typeface="Calibri"/>
                <a:sym typeface="Calibri"/>
              </a:rPr>
              <a:t>Circular doubly linked list</a:t>
            </a:r>
            <a:endParaRPr>
              <a:latin typeface="Calibri"/>
              <a:ea typeface="Calibri"/>
              <a:cs typeface="Calibri"/>
              <a:sym typeface="Calibri"/>
            </a:endParaRPr>
          </a:p>
        </p:txBody>
      </p:sp>
      <p:pic>
        <p:nvPicPr>
          <p:cNvPr id="141" name="Google Shape;141;p9"/>
          <p:cNvPicPr preferRelativeResize="0"/>
          <p:nvPr/>
        </p:nvPicPr>
        <p:blipFill rotWithShape="1">
          <a:blip r:embed="rId3">
            <a:alphaModFix/>
          </a:blip>
          <a:srcRect b="0" l="0" r="0" t="0"/>
          <a:stretch/>
        </p:blipFill>
        <p:spPr>
          <a:xfrm>
            <a:off x="5972783" y="1238298"/>
            <a:ext cx="5875506" cy="374226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B3835"/>
              </a:buClr>
              <a:buSzPts val="4400"/>
              <a:buFont typeface="Calibri"/>
              <a:buNone/>
            </a:pPr>
            <a:r>
              <a:rPr b="0" i="0" lang="en-US">
                <a:solidFill>
                  <a:srgbClr val="3B3835"/>
                </a:solidFill>
              </a:rPr>
              <a:t>Singly linked list </a:t>
            </a:r>
            <a:endParaRPr/>
          </a:p>
        </p:txBody>
      </p:sp>
      <p:sp>
        <p:nvSpPr>
          <p:cNvPr id="147" name="Google Shape;147;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B3835"/>
              </a:buClr>
              <a:buSzPts val="2800"/>
              <a:buChar char="•"/>
            </a:pPr>
            <a:r>
              <a:rPr b="0" i="0" lang="en-US">
                <a:solidFill>
                  <a:srgbClr val="3B3835"/>
                </a:solidFill>
                <a:latin typeface="Calibri"/>
                <a:ea typeface="Calibri"/>
                <a:cs typeface="Calibri"/>
                <a:sym typeface="Calibri"/>
              </a:rPr>
              <a:t>A singly linked list is one in which all nodes are linked together in some sequential manner.</a:t>
            </a:r>
            <a:endParaRPr/>
          </a:p>
          <a:p>
            <a:pPr indent="-228600" lvl="0" marL="228600" rtl="0" algn="just">
              <a:lnSpc>
                <a:spcPct val="90000"/>
              </a:lnSpc>
              <a:spcBef>
                <a:spcPts val="1000"/>
              </a:spcBef>
              <a:spcAft>
                <a:spcPts val="0"/>
              </a:spcAft>
              <a:buClr>
                <a:srgbClr val="3B3835"/>
              </a:buClr>
              <a:buSzPts val="2800"/>
              <a:buChar char="•"/>
            </a:pPr>
            <a:r>
              <a:rPr b="1" lang="en-US">
                <a:solidFill>
                  <a:srgbClr val="3B3835"/>
                </a:solidFill>
                <a:latin typeface="Calibri"/>
                <a:ea typeface="Calibri"/>
                <a:cs typeface="Calibri"/>
                <a:sym typeface="Calibri"/>
              </a:rPr>
              <a:t>Operations on Single Linked List</a:t>
            </a:r>
            <a:endParaRPr/>
          </a:p>
          <a:p>
            <a:pPr indent="0" lvl="0" marL="0" rtl="0" algn="just">
              <a:lnSpc>
                <a:spcPct val="90000"/>
              </a:lnSpc>
              <a:spcBef>
                <a:spcPts val="1000"/>
              </a:spcBef>
              <a:spcAft>
                <a:spcPts val="0"/>
              </a:spcAft>
              <a:buClr>
                <a:srgbClr val="3B3835"/>
              </a:buClr>
              <a:buSzPts val="2400"/>
              <a:buNone/>
            </a:pPr>
            <a:r>
              <a:rPr lang="en-US" sz="2400">
                <a:solidFill>
                  <a:srgbClr val="3B3835"/>
                </a:solidFill>
                <a:latin typeface="Calibri"/>
                <a:ea typeface="Calibri"/>
                <a:cs typeface="Calibri"/>
                <a:sym typeface="Calibri"/>
              </a:rPr>
              <a:t>	The following operations are performed on a Single Linked List</a:t>
            </a:r>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latin typeface="Calibri"/>
                <a:ea typeface="Calibri"/>
                <a:cs typeface="Calibri"/>
                <a:sym typeface="Calibri"/>
              </a:rPr>
              <a:t>Traversal: </a:t>
            </a:r>
            <a:r>
              <a:rPr lang="en-US"/>
              <a:t>accesses each element of the linked list</a:t>
            </a:r>
            <a:endParaRPr>
              <a:solidFill>
                <a:srgbClr val="3B3835"/>
              </a:solidFill>
              <a:latin typeface="Calibri"/>
              <a:ea typeface="Calibri"/>
              <a:cs typeface="Calibri"/>
              <a:sym typeface="Calibri"/>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latin typeface="Calibri"/>
                <a:ea typeface="Calibri"/>
                <a:cs typeface="Calibri"/>
                <a:sym typeface="Calibri"/>
              </a:rPr>
              <a:t>Insertion: </a:t>
            </a:r>
            <a:r>
              <a:rPr lang="en-US"/>
              <a:t>adds a new element to the linked list</a:t>
            </a:r>
            <a:endParaRPr>
              <a:solidFill>
                <a:srgbClr val="3B3835"/>
              </a:solidFill>
              <a:latin typeface="Calibri"/>
              <a:ea typeface="Calibri"/>
              <a:cs typeface="Calibri"/>
              <a:sym typeface="Calibri"/>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latin typeface="Calibri"/>
                <a:ea typeface="Calibri"/>
                <a:cs typeface="Calibri"/>
                <a:sym typeface="Calibri"/>
              </a:rPr>
              <a:t>Deletion: r</a:t>
            </a:r>
            <a:r>
              <a:rPr lang="en-US"/>
              <a:t>emoves the existing elements</a:t>
            </a:r>
            <a:endParaRPr>
              <a:solidFill>
                <a:srgbClr val="3B3835"/>
              </a:solidFill>
              <a:latin typeface="Calibri"/>
              <a:ea typeface="Calibri"/>
              <a:cs typeface="Calibri"/>
              <a:sym typeface="Calibri"/>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latin typeface="Calibri"/>
                <a:ea typeface="Calibri"/>
                <a:cs typeface="Calibri"/>
                <a:sym typeface="Calibri"/>
              </a:rPr>
              <a:t>Search : Finds a node in the list</a:t>
            </a:r>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latin typeface="Calibri"/>
                <a:ea typeface="Calibri"/>
                <a:cs typeface="Calibri"/>
                <a:sym typeface="Calibri"/>
              </a:rPr>
              <a:t>Sort: Sorts the nodes of the linked list</a:t>
            </a:r>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latin typeface="Calibri"/>
                <a:ea typeface="Calibri"/>
                <a:cs typeface="Calibri"/>
                <a:sym typeface="Calibri"/>
              </a:rPr>
              <a:t>Reverse: Reverses the list</a:t>
            </a:r>
            <a:endParaRPr/>
          </a:p>
          <a:p>
            <a:pPr indent="-228600" lvl="2" marL="1143000" rtl="0" algn="just">
              <a:lnSpc>
                <a:spcPct val="90000"/>
              </a:lnSpc>
              <a:spcBef>
                <a:spcPts val="500"/>
              </a:spcBef>
              <a:spcAft>
                <a:spcPts val="0"/>
              </a:spcAft>
              <a:buClr>
                <a:srgbClr val="3B3835"/>
              </a:buClr>
              <a:buSzPts val="2000"/>
              <a:buNone/>
            </a:pPr>
            <a:r>
              <a:rPr lang="en-US">
                <a:solidFill>
                  <a:srgbClr val="3B3835"/>
                </a:solidFill>
                <a:latin typeface="Calibri"/>
                <a:ea typeface="Calibri"/>
                <a:cs typeface="Calibri"/>
                <a:sym typeface="Calibri"/>
              </a:rPr>
              <a:t> etc.</a:t>
            </a:r>
            <a:endParaRPr/>
          </a:p>
          <a:p>
            <a:pPr indent="-101600" lvl="2" marL="1143000" rtl="0" algn="just">
              <a:lnSpc>
                <a:spcPct val="90000"/>
              </a:lnSpc>
              <a:spcBef>
                <a:spcPts val="500"/>
              </a:spcBef>
              <a:spcAft>
                <a:spcPts val="0"/>
              </a:spcAft>
              <a:buClr>
                <a:schemeClr val="dk1"/>
              </a:buClr>
              <a:buSzPts val="2000"/>
              <a:buNone/>
            </a:pPr>
            <a:r>
              <a:t/>
            </a:r>
            <a:endParaRPr>
              <a:solidFill>
                <a:srgbClr val="3B3835"/>
              </a:solidFill>
              <a:latin typeface="Calibri"/>
              <a:ea typeface="Calibri"/>
              <a:cs typeface="Calibri"/>
              <a:sym typeface="Calibri"/>
            </a:endParaRPr>
          </a:p>
          <a:p>
            <a:pPr indent="-101600" lvl="2" marL="1143000" rtl="0" algn="just">
              <a:lnSpc>
                <a:spcPct val="90000"/>
              </a:lnSpc>
              <a:spcBef>
                <a:spcPts val="500"/>
              </a:spcBef>
              <a:spcAft>
                <a:spcPts val="0"/>
              </a:spcAft>
              <a:buClr>
                <a:schemeClr val="dk1"/>
              </a:buClr>
              <a:buSzPts val="2000"/>
              <a:buNone/>
            </a:pPr>
            <a:r>
              <a:t/>
            </a:r>
            <a:endParaRPr>
              <a:solidFill>
                <a:srgbClr val="3B3835"/>
              </a:solidFill>
              <a:latin typeface="Calibri"/>
              <a:ea typeface="Calibri"/>
              <a:cs typeface="Calibri"/>
              <a:sym typeface="Calibri"/>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0424E"/>
              </a:buClr>
              <a:buSzPts val="4400"/>
              <a:buFont typeface="Calibri"/>
              <a:buNone/>
            </a:pPr>
            <a:r>
              <a:rPr i="0" lang="en-US">
                <a:solidFill>
                  <a:srgbClr val="40424E"/>
                </a:solidFill>
              </a:rPr>
              <a:t>Representation Of Linked List</a:t>
            </a:r>
            <a:endParaRPr/>
          </a:p>
        </p:txBody>
      </p:sp>
      <p:sp>
        <p:nvSpPr>
          <p:cNvPr id="153" name="Google Shape;153;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40424E"/>
              </a:buClr>
              <a:buSzPts val="2800"/>
              <a:buChar char="•"/>
            </a:pPr>
            <a:r>
              <a:rPr b="0" i="0" lang="en-US">
                <a:solidFill>
                  <a:srgbClr val="40424E"/>
                </a:solidFill>
                <a:latin typeface="Calibri"/>
                <a:ea typeface="Calibri"/>
                <a:cs typeface="Calibri"/>
                <a:sym typeface="Calibri"/>
              </a:rPr>
              <a:t>A linked list is represented by a pointer to the first node of the linked list. </a:t>
            </a:r>
            <a:endParaRPr/>
          </a:p>
          <a:p>
            <a:pPr indent="-228600" lvl="0" marL="228600" rtl="0" algn="l">
              <a:lnSpc>
                <a:spcPct val="90000"/>
              </a:lnSpc>
              <a:spcBef>
                <a:spcPts val="1000"/>
              </a:spcBef>
              <a:spcAft>
                <a:spcPts val="0"/>
              </a:spcAft>
              <a:buClr>
                <a:srgbClr val="40424E"/>
              </a:buClr>
              <a:buSzPts val="2800"/>
              <a:buChar char="•"/>
            </a:pPr>
            <a:r>
              <a:rPr b="0" i="0" lang="en-US">
                <a:solidFill>
                  <a:srgbClr val="40424E"/>
                </a:solidFill>
                <a:latin typeface="Calibri"/>
                <a:ea typeface="Calibri"/>
                <a:cs typeface="Calibri"/>
                <a:sym typeface="Calibri"/>
              </a:rPr>
              <a:t>The first node is called the head. If the linked list is empty, then the value of the head is NULL.</a:t>
            </a:r>
            <a:endParaRPr/>
          </a:p>
          <a:p>
            <a:pPr indent="-228600" lvl="0" marL="228600" rtl="0" algn="l">
              <a:lnSpc>
                <a:spcPct val="90000"/>
              </a:lnSpc>
              <a:spcBef>
                <a:spcPts val="1000"/>
              </a:spcBef>
              <a:spcAft>
                <a:spcPts val="0"/>
              </a:spcAft>
              <a:buClr>
                <a:srgbClr val="40424E"/>
              </a:buClr>
              <a:buSzPts val="2800"/>
              <a:buChar char="•"/>
            </a:pPr>
            <a:r>
              <a:rPr b="0" i="0" lang="en-US">
                <a:solidFill>
                  <a:srgbClr val="40424E"/>
                </a:solidFill>
                <a:latin typeface="Calibri"/>
                <a:ea typeface="Calibri"/>
                <a:cs typeface="Calibri"/>
                <a:sym typeface="Calibri"/>
              </a:rPr>
              <a:t>Each node in a list consists of at least two parts:</a:t>
            </a:r>
            <a:endParaRPr/>
          </a:p>
          <a:p>
            <a:pPr indent="-514350" lvl="1" marL="971550" rtl="0" algn="l">
              <a:lnSpc>
                <a:spcPct val="90000"/>
              </a:lnSpc>
              <a:spcBef>
                <a:spcPts val="500"/>
              </a:spcBef>
              <a:spcAft>
                <a:spcPts val="0"/>
              </a:spcAft>
              <a:buClr>
                <a:srgbClr val="40424E"/>
              </a:buClr>
              <a:buSzPts val="2400"/>
              <a:buFont typeface="Calibri"/>
              <a:buAutoNum type="arabicPeriod"/>
            </a:pPr>
            <a:r>
              <a:rPr b="0" i="0" lang="en-US">
                <a:solidFill>
                  <a:srgbClr val="40424E"/>
                </a:solidFill>
                <a:latin typeface="Calibri"/>
                <a:ea typeface="Calibri"/>
                <a:cs typeface="Calibri"/>
                <a:sym typeface="Calibri"/>
              </a:rPr>
              <a:t>Data</a:t>
            </a:r>
            <a:endParaRPr/>
          </a:p>
          <a:p>
            <a:pPr indent="-514350" lvl="1" marL="971550" rtl="0" algn="l">
              <a:lnSpc>
                <a:spcPct val="90000"/>
              </a:lnSpc>
              <a:spcBef>
                <a:spcPts val="500"/>
              </a:spcBef>
              <a:spcAft>
                <a:spcPts val="0"/>
              </a:spcAft>
              <a:buClr>
                <a:srgbClr val="40424E"/>
              </a:buClr>
              <a:buSzPts val="2400"/>
              <a:buFont typeface="Calibri"/>
              <a:buAutoNum type="arabicPeriod"/>
            </a:pPr>
            <a:r>
              <a:rPr b="0" i="0" lang="en-US">
                <a:solidFill>
                  <a:srgbClr val="40424E"/>
                </a:solidFill>
                <a:latin typeface="Calibri"/>
                <a:ea typeface="Calibri"/>
                <a:cs typeface="Calibri"/>
                <a:sym typeface="Calibri"/>
              </a:rPr>
              <a:t>Pointer (Or Reference) to the next node</a:t>
            </a:r>
            <a:endParaRPr/>
          </a:p>
          <a:p>
            <a:pPr indent="-361950" lvl="1" marL="971550" rtl="0" algn="l">
              <a:lnSpc>
                <a:spcPct val="90000"/>
              </a:lnSpc>
              <a:spcBef>
                <a:spcPts val="500"/>
              </a:spcBef>
              <a:spcAft>
                <a:spcPts val="0"/>
              </a:spcAft>
              <a:buClr>
                <a:schemeClr val="dk1"/>
              </a:buClr>
              <a:buSzPts val="2400"/>
              <a:buFont typeface="Calibri"/>
              <a:buNone/>
            </a:pPr>
            <a:r>
              <a:t/>
            </a:r>
            <a:endParaRPr>
              <a:solidFill>
                <a:srgbClr val="40424E"/>
              </a:solidFill>
              <a:latin typeface="Arial"/>
              <a:ea typeface="Arial"/>
              <a:cs typeface="Arial"/>
              <a:sym typeface="Arial"/>
            </a:endParaRPr>
          </a:p>
          <a:p>
            <a:pPr indent="-361950" lvl="1" marL="971550" rtl="0" algn="l">
              <a:lnSpc>
                <a:spcPct val="90000"/>
              </a:lnSpc>
              <a:spcBef>
                <a:spcPts val="500"/>
              </a:spcBef>
              <a:spcAft>
                <a:spcPts val="0"/>
              </a:spcAft>
              <a:buClr>
                <a:schemeClr val="dk1"/>
              </a:buClr>
              <a:buSzPts val="2400"/>
              <a:buFont typeface="Calibri"/>
              <a:buNone/>
            </a:pPr>
            <a:r>
              <a:t/>
            </a:r>
            <a:endParaRPr b="0" i="0">
              <a:solidFill>
                <a:srgbClr val="40424E"/>
              </a:solidFill>
              <a:latin typeface="Arial"/>
              <a:ea typeface="Arial"/>
              <a:cs typeface="Arial"/>
              <a:sym typeface="Arial"/>
            </a:endParaRPr>
          </a:p>
          <a:p>
            <a:pPr indent="-361950" lvl="1" marL="971550" rtl="0" algn="l">
              <a:lnSpc>
                <a:spcPct val="90000"/>
              </a:lnSpc>
              <a:spcBef>
                <a:spcPts val="500"/>
              </a:spcBef>
              <a:spcAft>
                <a:spcPts val="0"/>
              </a:spcAft>
              <a:buClr>
                <a:schemeClr val="dk1"/>
              </a:buClr>
              <a:buSzPts val="2400"/>
              <a:buFont typeface="Calibri"/>
              <a:buNone/>
            </a:pPr>
            <a:r>
              <a:t/>
            </a:r>
            <a:endParaRPr>
              <a:solidFill>
                <a:srgbClr val="40424E"/>
              </a:solidFill>
              <a:latin typeface="Arial"/>
              <a:ea typeface="Arial"/>
              <a:cs typeface="Arial"/>
              <a:sym typeface="Arial"/>
            </a:endParaRPr>
          </a:p>
          <a:p>
            <a:pPr indent="-361950" lvl="1" marL="971550" rtl="0" algn="l">
              <a:lnSpc>
                <a:spcPct val="90000"/>
              </a:lnSpc>
              <a:spcBef>
                <a:spcPts val="500"/>
              </a:spcBef>
              <a:spcAft>
                <a:spcPts val="0"/>
              </a:spcAft>
              <a:buClr>
                <a:schemeClr val="dk1"/>
              </a:buClr>
              <a:buSzPts val="2400"/>
              <a:buFont typeface="Calibri"/>
              <a:buNone/>
            </a:pPr>
            <a:r>
              <a:t/>
            </a:r>
            <a:endParaRPr b="0" i="0">
              <a:solidFill>
                <a:srgbClr val="40424E"/>
              </a:solidFill>
              <a:latin typeface="Arial"/>
              <a:ea typeface="Arial"/>
              <a:cs typeface="Arial"/>
              <a:sym typeface="Arial"/>
            </a:endParaRPr>
          </a:p>
        </p:txBody>
      </p:sp>
      <p:pic>
        <p:nvPicPr>
          <p:cNvPr descr="linkedlist" id="154" name="Google Shape;154;p11"/>
          <p:cNvPicPr preferRelativeResize="0"/>
          <p:nvPr/>
        </p:nvPicPr>
        <p:blipFill rotWithShape="1">
          <a:blip r:embed="rId3">
            <a:alphaModFix/>
          </a:blip>
          <a:srcRect b="0" l="0" r="0" t="0"/>
          <a:stretch/>
        </p:blipFill>
        <p:spPr>
          <a:xfrm>
            <a:off x="6502400" y="4567238"/>
            <a:ext cx="5689600" cy="1609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0424E"/>
              </a:buClr>
              <a:buSzPts val="4400"/>
              <a:buFont typeface="Calibri"/>
              <a:buNone/>
            </a:pPr>
            <a:r>
              <a:rPr i="0" lang="en-US">
                <a:solidFill>
                  <a:srgbClr val="40424E"/>
                </a:solidFill>
              </a:rPr>
              <a:t>Representation Of Linked List</a:t>
            </a:r>
            <a:endParaRPr/>
          </a:p>
        </p:txBody>
      </p:sp>
      <p:sp>
        <p:nvSpPr>
          <p:cNvPr id="160" name="Google Shape;160;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40424E"/>
              </a:buClr>
              <a:buSzPts val="2800"/>
              <a:buChar char="•"/>
            </a:pPr>
            <a:r>
              <a:rPr b="0" i="0" lang="en-US">
                <a:solidFill>
                  <a:srgbClr val="40424E"/>
                </a:solidFill>
                <a:latin typeface="Calibri"/>
                <a:ea typeface="Calibri"/>
                <a:cs typeface="Calibri"/>
                <a:sym typeface="Calibri"/>
              </a:rPr>
              <a:t>In C, we can represent a node using structures. Below is an example of a linked list node with integer data.</a:t>
            </a:r>
            <a:endParaRPr/>
          </a:p>
          <a:p>
            <a:pPr indent="-50800" lvl="0" marL="228600" rtl="0" algn="l">
              <a:lnSpc>
                <a:spcPct val="90000"/>
              </a:lnSpc>
              <a:spcBef>
                <a:spcPts val="1000"/>
              </a:spcBef>
              <a:spcAft>
                <a:spcPts val="0"/>
              </a:spcAft>
              <a:buClr>
                <a:schemeClr val="dk1"/>
              </a:buClr>
              <a:buSzPts val="2800"/>
              <a:buNone/>
            </a:pPr>
            <a:r>
              <a:t/>
            </a:r>
            <a:endParaRPr>
              <a:solidFill>
                <a:srgbClr val="40424E"/>
              </a:solidFill>
              <a:latin typeface="Calibri"/>
              <a:ea typeface="Calibri"/>
              <a:cs typeface="Calibri"/>
              <a:sym typeface="Calibri"/>
            </a:endParaRPr>
          </a:p>
          <a:p>
            <a:pPr indent="-50800" lvl="0" marL="228600" rtl="0" algn="l">
              <a:lnSpc>
                <a:spcPct val="90000"/>
              </a:lnSpc>
              <a:spcBef>
                <a:spcPts val="1000"/>
              </a:spcBef>
              <a:spcAft>
                <a:spcPts val="0"/>
              </a:spcAft>
              <a:buClr>
                <a:schemeClr val="dk1"/>
              </a:buClr>
              <a:buSzPts val="2800"/>
              <a:buNone/>
            </a:pPr>
            <a:r>
              <a:t/>
            </a:r>
            <a:endParaRPr b="0" i="0">
              <a:solidFill>
                <a:srgbClr val="40424E"/>
              </a:solidFill>
              <a:latin typeface="Calibri"/>
              <a:ea typeface="Calibri"/>
              <a:cs typeface="Calibri"/>
              <a:sym typeface="Calibri"/>
            </a:endParaRPr>
          </a:p>
          <a:p>
            <a:pPr indent="-228600" lvl="0" marL="228600" rtl="0" algn="l">
              <a:lnSpc>
                <a:spcPct val="90000"/>
              </a:lnSpc>
              <a:spcBef>
                <a:spcPts val="1000"/>
              </a:spcBef>
              <a:spcAft>
                <a:spcPts val="0"/>
              </a:spcAft>
              <a:buClr>
                <a:srgbClr val="40424E"/>
              </a:buClr>
              <a:buSzPts val="2800"/>
              <a:buChar char="•"/>
            </a:pPr>
            <a:r>
              <a:rPr b="0" i="0" lang="en-US">
                <a:solidFill>
                  <a:srgbClr val="40424E"/>
                </a:solidFill>
                <a:latin typeface="Calibri"/>
                <a:ea typeface="Calibri"/>
                <a:cs typeface="Calibri"/>
                <a:sym typeface="Calibri"/>
              </a:rPr>
              <a:t>In Java or C# or C++, LinkedList can be represented as a class and a Node as a separate class. The LinkedList class contains a reference of Node class type.</a:t>
            </a:r>
            <a:endParaRPr>
              <a:latin typeface="Calibri"/>
              <a:ea typeface="Calibri"/>
              <a:cs typeface="Calibri"/>
              <a:sym typeface="Calibri"/>
            </a:endParaRPr>
          </a:p>
        </p:txBody>
      </p:sp>
      <p:pic>
        <p:nvPicPr>
          <p:cNvPr id="161" name="Google Shape;161;p12"/>
          <p:cNvPicPr preferRelativeResize="0"/>
          <p:nvPr/>
        </p:nvPicPr>
        <p:blipFill rotWithShape="1">
          <a:blip r:embed="rId3">
            <a:alphaModFix/>
          </a:blip>
          <a:srcRect b="0" l="0" r="0" t="0"/>
          <a:stretch/>
        </p:blipFill>
        <p:spPr>
          <a:xfrm>
            <a:off x="8432800" y="2338916"/>
            <a:ext cx="2489199" cy="1403351"/>
          </a:xfrm>
          <a:prstGeom prst="rect">
            <a:avLst/>
          </a:prstGeom>
          <a:noFill/>
          <a:ln>
            <a:noFill/>
          </a:ln>
        </p:spPr>
      </p:pic>
      <p:pic>
        <p:nvPicPr>
          <p:cNvPr id="162" name="Google Shape;162;p12"/>
          <p:cNvPicPr preferRelativeResize="0"/>
          <p:nvPr/>
        </p:nvPicPr>
        <p:blipFill rotWithShape="1">
          <a:blip r:embed="rId4">
            <a:alphaModFix/>
          </a:blip>
          <a:srcRect b="0" l="0" r="0" t="0"/>
          <a:stretch/>
        </p:blipFill>
        <p:spPr>
          <a:xfrm>
            <a:off x="8432799" y="4673599"/>
            <a:ext cx="2489199" cy="115146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ph type="title"/>
          </p:nvPr>
        </p:nvSpPr>
        <p:spPr>
          <a:xfrm>
            <a:off x="838200" y="365125"/>
            <a:ext cx="10515600" cy="107420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40424E"/>
              </a:buClr>
              <a:buSzPct val="100000"/>
              <a:buFont typeface="Arial"/>
              <a:buNone/>
            </a:pPr>
            <a:br>
              <a:rPr b="1" i="0" lang="en-US">
                <a:solidFill>
                  <a:srgbClr val="40424E"/>
                </a:solidFill>
                <a:latin typeface="Arial"/>
                <a:ea typeface="Arial"/>
                <a:cs typeface="Arial"/>
                <a:sym typeface="Arial"/>
              </a:rPr>
            </a:br>
            <a:r>
              <a:rPr i="0" lang="en-US" sz="4900">
                <a:solidFill>
                  <a:srgbClr val="40424E"/>
                </a:solidFill>
              </a:rPr>
              <a:t>First Simple Linked </a:t>
            </a:r>
            <a:br>
              <a:rPr i="0" lang="en-US" sz="4900">
                <a:solidFill>
                  <a:srgbClr val="40424E"/>
                </a:solidFill>
              </a:rPr>
            </a:br>
            <a:r>
              <a:rPr i="0" lang="en-US" sz="4900">
                <a:solidFill>
                  <a:srgbClr val="40424E"/>
                </a:solidFill>
              </a:rPr>
              <a:t>List in C++ </a:t>
            </a:r>
            <a:br>
              <a:rPr b="0" i="0" lang="en-US">
                <a:solidFill>
                  <a:srgbClr val="40424E"/>
                </a:solidFill>
                <a:latin typeface="Arial"/>
                <a:ea typeface="Arial"/>
                <a:cs typeface="Arial"/>
                <a:sym typeface="Arial"/>
              </a:rPr>
            </a:br>
            <a:endParaRPr/>
          </a:p>
        </p:txBody>
      </p:sp>
      <p:pic>
        <p:nvPicPr>
          <p:cNvPr id="168" name="Google Shape;168;p13"/>
          <p:cNvPicPr preferRelativeResize="0"/>
          <p:nvPr>
            <p:ph idx="1" type="body"/>
          </p:nvPr>
        </p:nvPicPr>
        <p:blipFill rotWithShape="1">
          <a:blip r:embed="rId3">
            <a:alphaModFix/>
          </a:blip>
          <a:srcRect b="0" l="0" r="0" t="0"/>
          <a:stretch/>
        </p:blipFill>
        <p:spPr>
          <a:xfrm>
            <a:off x="845191" y="1731709"/>
            <a:ext cx="3400425" cy="4286250"/>
          </a:xfrm>
          <a:prstGeom prst="rect">
            <a:avLst/>
          </a:prstGeom>
          <a:noFill/>
          <a:ln>
            <a:noFill/>
          </a:ln>
        </p:spPr>
      </p:pic>
      <p:pic>
        <p:nvPicPr>
          <p:cNvPr id="169" name="Google Shape;169;p13"/>
          <p:cNvPicPr preferRelativeResize="0"/>
          <p:nvPr/>
        </p:nvPicPr>
        <p:blipFill rotWithShape="1">
          <a:blip r:embed="rId4">
            <a:alphaModFix/>
          </a:blip>
          <a:srcRect b="0" l="0" r="0" t="0"/>
          <a:stretch/>
        </p:blipFill>
        <p:spPr>
          <a:xfrm>
            <a:off x="5756140" y="1752803"/>
            <a:ext cx="3714750" cy="2457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Traverse: </a:t>
            </a:r>
            <a:endParaRPr/>
          </a:p>
        </p:txBody>
      </p:sp>
      <p:sp>
        <p:nvSpPr>
          <p:cNvPr id="175" name="Google Shape;175;p14"/>
          <p:cNvSpPr txBox="1"/>
          <p:nvPr>
            <p:ph idx="1" type="body"/>
          </p:nvPr>
        </p:nvSpPr>
        <p:spPr>
          <a:xfrm>
            <a:off x="838200" y="1825625"/>
            <a:ext cx="414528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None/>
            </a:pPr>
            <a:r>
              <a:rPr lang="en-US" sz="2400"/>
              <a:t>Display()</a:t>
            </a:r>
            <a:br>
              <a:rPr lang="en-US" sz="2400"/>
            </a:br>
            <a:r>
              <a:rPr lang="en-US" sz="2400"/>
              <a:t>  temp = head</a:t>
            </a:r>
            <a:br>
              <a:rPr lang="en-US" sz="2400"/>
            </a:br>
            <a:r>
              <a:rPr lang="en-US" sz="2400"/>
              <a:t>  while (temp != null)  {</a:t>
            </a:r>
            <a:br>
              <a:rPr lang="en-US" sz="2400"/>
            </a:br>
            <a:r>
              <a:rPr lang="en-US" sz="2400"/>
              <a:t>     // print content</a:t>
            </a:r>
            <a:br>
              <a:rPr lang="en-US" sz="2400"/>
            </a:br>
            <a:r>
              <a:rPr lang="en-US" sz="2400"/>
              <a:t>     update temp. </a:t>
            </a:r>
            <a:br>
              <a:rPr lang="en-US" sz="2400"/>
            </a:br>
            <a:r>
              <a:rPr lang="en-US" sz="2400"/>
              <a:t>  } </a:t>
            </a:r>
            <a:endParaRPr sz="2400"/>
          </a:p>
        </p:txBody>
      </p:sp>
      <p:pic>
        <p:nvPicPr>
          <p:cNvPr id="176" name="Google Shape;176;p14"/>
          <p:cNvPicPr preferRelativeResize="0"/>
          <p:nvPr/>
        </p:nvPicPr>
        <p:blipFill rotWithShape="1">
          <a:blip r:embed="rId3">
            <a:alphaModFix/>
          </a:blip>
          <a:srcRect b="0" l="0" r="0" t="0"/>
          <a:stretch/>
        </p:blipFill>
        <p:spPr>
          <a:xfrm>
            <a:off x="4789353" y="1449726"/>
            <a:ext cx="5294469" cy="384212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Insertion</a:t>
            </a:r>
            <a:endParaRPr/>
          </a:p>
        </p:txBody>
      </p:sp>
      <p:sp>
        <p:nvSpPr>
          <p:cNvPr id="182" name="Google Shape;182;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Insert at beginning</a:t>
            </a:r>
            <a:endParaRPr/>
          </a:p>
          <a:p>
            <a:pPr indent="-228600" lvl="0" marL="228600" rtl="0" algn="l">
              <a:lnSpc>
                <a:spcPct val="90000"/>
              </a:lnSpc>
              <a:spcBef>
                <a:spcPts val="1000"/>
              </a:spcBef>
              <a:spcAft>
                <a:spcPts val="0"/>
              </a:spcAft>
              <a:buClr>
                <a:schemeClr val="dk1"/>
              </a:buClr>
              <a:buSzPts val="2800"/>
              <a:buChar char="•"/>
            </a:pPr>
            <a:r>
              <a:rPr lang="en-US"/>
              <a:t>Insert at end </a:t>
            </a:r>
            <a:endParaRPr/>
          </a:p>
          <a:p>
            <a:pPr indent="-228600" lvl="0" marL="228600" rtl="0" algn="l">
              <a:lnSpc>
                <a:spcPct val="90000"/>
              </a:lnSpc>
              <a:spcBef>
                <a:spcPts val="1000"/>
              </a:spcBef>
              <a:spcAft>
                <a:spcPts val="0"/>
              </a:spcAft>
              <a:buClr>
                <a:schemeClr val="dk1"/>
              </a:buClr>
              <a:buSzPts val="2800"/>
              <a:buChar char="•"/>
            </a:pPr>
            <a:r>
              <a:rPr lang="en-US"/>
              <a:t>Insert at any position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Insert at beginning </a:t>
            </a:r>
            <a:endParaRPr/>
          </a:p>
        </p:txBody>
      </p:sp>
      <p:pic>
        <p:nvPicPr>
          <p:cNvPr id="188" name="Google Shape;188;p16"/>
          <p:cNvPicPr preferRelativeResize="0"/>
          <p:nvPr>
            <p:ph idx="1" type="body"/>
          </p:nvPr>
        </p:nvPicPr>
        <p:blipFill rotWithShape="1">
          <a:blip r:embed="rId3">
            <a:alphaModFix/>
          </a:blip>
          <a:srcRect b="0" l="0" r="0" t="0"/>
          <a:stretch/>
        </p:blipFill>
        <p:spPr>
          <a:xfrm>
            <a:off x="6040877" y="1410511"/>
            <a:ext cx="3998067" cy="42023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Add_node (Insert at end)</a:t>
            </a:r>
            <a:endParaRPr/>
          </a:p>
        </p:txBody>
      </p:sp>
      <p:sp>
        <p:nvSpPr>
          <p:cNvPr id="194" name="Google Shape;194;p17"/>
          <p:cNvSpPr txBox="1"/>
          <p:nvPr>
            <p:ph idx="1" type="body"/>
          </p:nvPr>
        </p:nvSpPr>
        <p:spPr>
          <a:xfrm>
            <a:off x="838200" y="1825625"/>
            <a:ext cx="3490609"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Insert in an empty LL and Insert at end </a:t>
            </a:r>
            <a:endParaRPr/>
          </a:p>
        </p:txBody>
      </p:sp>
      <p:pic>
        <p:nvPicPr>
          <p:cNvPr id="195" name="Google Shape;195;p17"/>
          <p:cNvPicPr preferRelativeResize="0"/>
          <p:nvPr/>
        </p:nvPicPr>
        <p:blipFill rotWithShape="1">
          <a:blip r:embed="rId3">
            <a:alphaModFix/>
          </a:blip>
          <a:srcRect b="0" l="0" r="0" t="0"/>
          <a:stretch/>
        </p:blipFill>
        <p:spPr>
          <a:xfrm>
            <a:off x="6439712" y="1337332"/>
            <a:ext cx="3920246" cy="455762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Insert at any position</a:t>
            </a:r>
            <a:endParaRPr/>
          </a:p>
        </p:txBody>
      </p:sp>
      <p:pic>
        <p:nvPicPr>
          <p:cNvPr id="201" name="Google Shape;201;p18"/>
          <p:cNvPicPr preferRelativeResize="0"/>
          <p:nvPr>
            <p:ph idx="1" type="body"/>
          </p:nvPr>
        </p:nvPicPr>
        <p:blipFill rotWithShape="1">
          <a:blip r:embed="rId3">
            <a:alphaModFix/>
          </a:blip>
          <a:srcRect b="0" l="0" r="0" t="0"/>
          <a:stretch/>
        </p:blipFill>
        <p:spPr>
          <a:xfrm>
            <a:off x="4580107" y="1488331"/>
            <a:ext cx="6781800" cy="455254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Deletion</a:t>
            </a:r>
            <a:endParaRPr/>
          </a:p>
        </p:txBody>
      </p:sp>
      <p:sp>
        <p:nvSpPr>
          <p:cNvPr id="207" name="Google Shape;20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Delete from beginning/start/head/at front</a:t>
            </a:r>
            <a:endParaRPr/>
          </a:p>
          <a:p>
            <a:pPr indent="-228600" lvl="0" marL="228600" rtl="0" algn="l">
              <a:lnSpc>
                <a:spcPct val="90000"/>
              </a:lnSpc>
              <a:spcBef>
                <a:spcPts val="1000"/>
              </a:spcBef>
              <a:spcAft>
                <a:spcPts val="0"/>
              </a:spcAft>
              <a:buClr>
                <a:schemeClr val="dk1"/>
              </a:buClr>
              <a:buSzPts val="2800"/>
              <a:buChar char="•"/>
            </a:pPr>
            <a:r>
              <a:rPr lang="en-US"/>
              <a:t>Delete from end </a:t>
            </a:r>
            <a:endParaRPr/>
          </a:p>
          <a:p>
            <a:pPr indent="-228600" lvl="0" marL="228600" rtl="0" algn="l">
              <a:lnSpc>
                <a:spcPct val="90000"/>
              </a:lnSpc>
              <a:spcBef>
                <a:spcPts val="1000"/>
              </a:spcBef>
              <a:spcAft>
                <a:spcPts val="0"/>
              </a:spcAft>
              <a:buClr>
                <a:schemeClr val="dk1"/>
              </a:buClr>
              <a:buSzPts val="2800"/>
              <a:buChar char="•"/>
            </a:pPr>
            <a:r>
              <a:rPr lang="en-US"/>
              <a:t>Delete at any position</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Delete at front</a:t>
            </a:r>
            <a:br>
              <a:rPr lang="en-US"/>
            </a:br>
            <a:endParaRPr/>
          </a:p>
        </p:txBody>
      </p:sp>
      <p:pic>
        <p:nvPicPr>
          <p:cNvPr id="213" name="Google Shape;213;p20"/>
          <p:cNvPicPr preferRelativeResize="0"/>
          <p:nvPr>
            <p:ph idx="1" type="body"/>
          </p:nvPr>
        </p:nvPicPr>
        <p:blipFill rotWithShape="1">
          <a:blip r:embed="rId3">
            <a:alphaModFix/>
          </a:blip>
          <a:srcRect b="0" l="0" r="0" t="0"/>
          <a:stretch/>
        </p:blipFill>
        <p:spPr>
          <a:xfrm>
            <a:off x="4776153" y="1420237"/>
            <a:ext cx="6790034" cy="427044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Delete from end</a:t>
            </a:r>
            <a:endParaRPr/>
          </a:p>
        </p:txBody>
      </p:sp>
      <p:pic>
        <p:nvPicPr>
          <p:cNvPr id="219" name="Google Shape;219;p21"/>
          <p:cNvPicPr preferRelativeResize="0"/>
          <p:nvPr>
            <p:ph idx="1" type="body"/>
          </p:nvPr>
        </p:nvPicPr>
        <p:blipFill rotWithShape="1">
          <a:blip r:embed="rId3">
            <a:alphaModFix/>
          </a:blip>
          <a:srcRect b="0" l="0" r="0" t="0"/>
          <a:stretch/>
        </p:blipFill>
        <p:spPr>
          <a:xfrm>
            <a:off x="6050605" y="1264595"/>
            <a:ext cx="5311302" cy="435799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Delete at any position</a:t>
            </a:r>
            <a:endParaRPr/>
          </a:p>
        </p:txBody>
      </p:sp>
      <p:pic>
        <p:nvPicPr>
          <p:cNvPr id="225" name="Google Shape;225;p22"/>
          <p:cNvPicPr preferRelativeResize="0"/>
          <p:nvPr>
            <p:ph idx="1" type="body"/>
          </p:nvPr>
        </p:nvPicPr>
        <p:blipFill rotWithShape="1">
          <a:blip r:embed="rId3">
            <a:alphaModFix/>
          </a:blip>
          <a:srcRect b="0" l="0" r="0" t="0"/>
          <a:stretch/>
        </p:blipFill>
        <p:spPr>
          <a:xfrm>
            <a:off x="6245158" y="1541614"/>
            <a:ext cx="4937496" cy="421716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Search</a:t>
            </a:r>
            <a:endParaRPr/>
          </a:p>
        </p:txBody>
      </p:sp>
      <p:pic>
        <p:nvPicPr>
          <p:cNvPr id="231" name="Google Shape;231;p23"/>
          <p:cNvPicPr preferRelativeResize="0"/>
          <p:nvPr>
            <p:ph idx="1" type="body"/>
          </p:nvPr>
        </p:nvPicPr>
        <p:blipFill rotWithShape="1">
          <a:blip r:embed="rId3">
            <a:alphaModFix/>
          </a:blip>
          <a:srcRect b="0" l="0" r="0" t="0"/>
          <a:stretch/>
        </p:blipFill>
        <p:spPr>
          <a:xfrm>
            <a:off x="5964372" y="1274323"/>
            <a:ext cx="5261347" cy="4756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Sort</a:t>
            </a:r>
            <a:endParaRPr/>
          </a:p>
        </p:txBody>
      </p:sp>
      <p:sp>
        <p:nvSpPr>
          <p:cNvPr id="237" name="Google Shape;237;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Node temp=head, index</a:t>
            </a:r>
            <a:endParaRPr/>
          </a:p>
          <a:p>
            <a:pPr indent="-228600" lvl="0" marL="228600" rtl="0" algn="l">
              <a:lnSpc>
                <a:spcPct val="90000"/>
              </a:lnSpc>
              <a:spcBef>
                <a:spcPts val="1000"/>
              </a:spcBef>
              <a:spcAft>
                <a:spcPts val="0"/>
              </a:spcAft>
              <a:buClr>
                <a:schemeClr val="dk1"/>
              </a:buClr>
              <a:buSzPts val="2800"/>
              <a:buChar char="•"/>
            </a:pPr>
            <a:r>
              <a:rPr lang="en-US"/>
              <a:t>If head is null, </a:t>
            </a:r>
            <a:endParaRPr/>
          </a:p>
          <a:p>
            <a:pPr indent="-228600" lvl="1" marL="685800" rtl="0" algn="l">
              <a:lnSpc>
                <a:spcPct val="90000"/>
              </a:lnSpc>
              <a:spcBef>
                <a:spcPts val="500"/>
              </a:spcBef>
              <a:spcAft>
                <a:spcPts val="0"/>
              </a:spcAft>
              <a:buClr>
                <a:schemeClr val="dk1"/>
              </a:buClr>
              <a:buSzPts val="2400"/>
              <a:buChar char="•"/>
            </a:pPr>
            <a:r>
              <a:rPr lang="en-US"/>
              <a:t>return.</a:t>
            </a:r>
            <a:endParaRPr/>
          </a:p>
          <a:p>
            <a:pPr indent="-228600" lvl="0" marL="228600" rtl="0" algn="l">
              <a:lnSpc>
                <a:spcPct val="90000"/>
              </a:lnSpc>
              <a:spcBef>
                <a:spcPts val="1000"/>
              </a:spcBef>
              <a:spcAft>
                <a:spcPts val="0"/>
              </a:spcAft>
              <a:buClr>
                <a:schemeClr val="dk1"/>
              </a:buClr>
              <a:buSzPts val="2800"/>
              <a:buChar char="•"/>
            </a:pPr>
            <a:r>
              <a:rPr lang="en-US"/>
              <a:t>Else, run a loop till the last node (i.e. NULL).</a:t>
            </a:r>
            <a:endParaRPr/>
          </a:p>
          <a:p>
            <a:pPr indent="-228600" lvl="1" marL="685800" rtl="0" algn="l">
              <a:lnSpc>
                <a:spcPct val="90000"/>
              </a:lnSpc>
              <a:spcBef>
                <a:spcPts val="500"/>
              </a:spcBef>
              <a:spcAft>
                <a:spcPts val="0"/>
              </a:spcAft>
              <a:buClr>
                <a:schemeClr val="dk1"/>
              </a:buClr>
              <a:buSzPts val="2400"/>
              <a:buChar char="•"/>
            </a:pPr>
            <a:r>
              <a:rPr lang="en-US"/>
              <a:t>Index=temp.next</a:t>
            </a:r>
            <a:endParaRPr/>
          </a:p>
          <a:p>
            <a:pPr indent="-228600" lvl="1" marL="685800" rtl="0" algn="l">
              <a:lnSpc>
                <a:spcPct val="90000"/>
              </a:lnSpc>
              <a:spcBef>
                <a:spcPts val="500"/>
              </a:spcBef>
              <a:spcAft>
                <a:spcPts val="0"/>
              </a:spcAft>
              <a:buClr>
                <a:schemeClr val="dk1"/>
              </a:buClr>
              <a:buSzPts val="2400"/>
              <a:buChar char="•"/>
            </a:pPr>
            <a:r>
              <a:rPr lang="en-US"/>
              <a:t>Check if the data of the temp is greater than the index. If it is greater, swap temp and index.</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Reverse</a:t>
            </a:r>
            <a:endParaRPr/>
          </a:p>
        </p:txBody>
      </p:sp>
      <p:sp>
        <p:nvSpPr>
          <p:cNvPr id="243" name="Google Shape;243;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C:\Users\Mubashra.Fayyaz.KHIFAST\Desktop\RGIF2.gif" id="244" name="Google Shape;244;p25"/>
          <p:cNvPicPr preferRelativeResize="0"/>
          <p:nvPr/>
        </p:nvPicPr>
        <p:blipFill rotWithShape="1">
          <a:blip r:embed="rId3">
            <a:alphaModFix/>
          </a:blip>
          <a:srcRect b="0" l="0" r="0" t="0"/>
          <a:stretch/>
        </p:blipFill>
        <p:spPr>
          <a:xfrm>
            <a:off x="2571009" y="1342417"/>
            <a:ext cx="6382491" cy="492979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B3835"/>
              </a:buClr>
              <a:buSzPts val="4400"/>
              <a:buFont typeface="Calibri"/>
              <a:buNone/>
            </a:pPr>
            <a:r>
              <a:rPr lang="en-US">
                <a:solidFill>
                  <a:srgbClr val="3B3835"/>
                </a:solidFill>
              </a:rPr>
              <a:t>Doub</a:t>
            </a:r>
            <a:r>
              <a:rPr b="0" i="0" lang="en-US">
                <a:solidFill>
                  <a:srgbClr val="3B3835"/>
                </a:solidFill>
              </a:rPr>
              <a:t>ly linked list </a:t>
            </a:r>
            <a:endParaRPr/>
          </a:p>
        </p:txBody>
      </p:sp>
      <p:sp>
        <p:nvSpPr>
          <p:cNvPr id="250" name="Google Shape;250;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101600" lvl="2" marL="1143000" rtl="0" algn="just">
              <a:lnSpc>
                <a:spcPct val="90000"/>
              </a:lnSpc>
              <a:spcBef>
                <a:spcPts val="0"/>
              </a:spcBef>
              <a:spcAft>
                <a:spcPts val="0"/>
              </a:spcAft>
              <a:buClr>
                <a:schemeClr val="dk1"/>
              </a:buClr>
              <a:buSzPts val="2000"/>
              <a:buNone/>
            </a:pPr>
            <a:r>
              <a:t/>
            </a:r>
            <a:endParaRPr>
              <a:solidFill>
                <a:srgbClr val="3B3835"/>
              </a:solidFill>
              <a:latin typeface="Calibri"/>
              <a:ea typeface="Calibri"/>
              <a:cs typeface="Calibri"/>
              <a:sym typeface="Calibri"/>
            </a:endParaRPr>
          </a:p>
          <a:p>
            <a:pPr indent="-228600" lvl="0" marL="228600" rtl="0" algn="just">
              <a:lnSpc>
                <a:spcPct val="90000"/>
              </a:lnSpc>
              <a:spcBef>
                <a:spcPts val="1000"/>
              </a:spcBef>
              <a:spcAft>
                <a:spcPts val="0"/>
              </a:spcAft>
              <a:buClr>
                <a:schemeClr val="dk1"/>
              </a:buClr>
              <a:buSzPts val="2800"/>
              <a:buChar char="•"/>
            </a:pPr>
            <a:r>
              <a:rPr lang="en-US"/>
              <a:t>A type of linked list in which a node contains a pointer to the previous as well as the next node in the sequence.</a:t>
            </a:r>
            <a:endParaRPr/>
          </a:p>
          <a:p>
            <a:pPr indent="-228600" lvl="0" marL="228600" rtl="0" algn="just">
              <a:lnSpc>
                <a:spcPct val="90000"/>
              </a:lnSpc>
              <a:spcBef>
                <a:spcPts val="1000"/>
              </a:spcBef>
              <a:spcAft>
                <a:spcPts val="0"/>
              </a:spcAft>
              <a:buClr>
                <a:schemeClr val="dk1"/>
              </a:buClr>
              <a:buSzPts val="2800"/>
              <a:buChar char="•"/>
            </a:pPr>
            <a:r>
              <a:rPr lang="en-US"/>
              <a:t>Adv: Given a node, it’s easy to visit its predecessor, convenient to traverse list backwards.</a:t>
            </a:r>
            <a:endParaRPr/>
          </a:p>
          <a:p>
            <a:pPr indent="-50800" lvl="0" marL="228600" rtl="0" algn="just">
              <a:lnSpc>
                <a:spcPct val="90000"/>
              </a:lnSpc>
              <a:spcBef>
                <a:spcPts val="1000"/>
              </a:spcBef>
              <a:spcAft>
                <a:spcPts val="0"/>
              </a:spcAft>
              <a:buClr>
                <a:schemeClr val="dk1"/>
              </a:buClr>
              <a:buSzPts val="2800"/>
              <a:buNone/>
            </a:pPr>
            <a:r>
              <a:t/>
            </a:r>
            <a:endParaRPr>
              <a:solidFill>
                <a:srgbClr val="3B3835"/>
              </a:solidFill>
              <a:latin typeface="Calibri"/>
              <a:ea typeface="Calibri"/>
              <a:cs typeface="Calibri"/>
              <a:sym typeface="Calibri"/>
            </a:endParaRPr>
          </a:p>
          <a:p>
            <a:pPr indent="-50800" lvl="0" marL="228600" rtl="0" algn="l">
              <a:lnSpc>
                <a:spcPct val="90000"/>
              </a:lnSpc>
              <a:spcBef>
                <a:spcPts val="1000"/>
              </a:spcBef>
              <a:spcAft>
                <a:spcPts val="0"/>
              </a:spcAft>
              <a:buClr>
                <a:schemeClr val="dk1"/>
              </a:buClr>
              <a:buSzPts val="2800"/>
              <a:buNone/>
            </a:pPr>
            <a:r>
              <a:t/>
            </a:r>
            <a:endParaRPr/>
          </a:p>
        </p:txBody>
      </p:sp>
      <p:sp>
        <p:nvSpPr>
          <p:cNvPr descr="Doubly Linked List - javatpoint" id="251" name="Google Shape;251;p2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descr="Doubly Linked List - javatpoint" id="252" name="Google Shape;252;p2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Doubly linked list" id="253" name="Google Shape;253;p26"/>
          <p:cNvPicPr preferRelativeResize="0"/>
          <p:nvPr/>
        </p:nvPicPr>
        <p:blipFill rotWithShape="1">
          <a:blip r:embed="rId3">
            <a:alphaModFix/>
          </a:blip>
          <a:srcRect b="0" l="0" r="0" t="0"/>
          <a:stretch/>
        </p:blipFill>
        <p:spPr>
          <a:xfrm>
            <a:off x="5184774" y="4515075"/>
            <a:ext cx="6696075" cy="1924051"/>
          </a:xfrm>
          <a:prstGeom prst="rect">
            <a:avLst/>
          </a:prstGeom>
          <a:noFill/>
          <a:ln>
            <a:noFill/>
          </a:ln>
        </p:spPr>
      </p:pic>
      <p:pic>
        <p:nvPicPr>
          <p:cNvPr descr="Doubly linked list" id="254" name="Google Shape;254;p26"/>
          <p:cNvPicPr preferRelativeResize="0"/>
          <p:nvPr/>
        </p:nvPicPr>
        <p:blipFill rotWithShape="1">
          <a:blip r:embed="rId4">
            <a:alphaModFix/>
          </a:blip>
          <a:srcRect b="0" l="0" r="0" t="0"/>
          <a:stretch/>
        </p:blipFill>
        <p:spPr>
          <a:xfrm>
            <a:off x="678090" y="4747532"/>
            <a:ext cx="3267075" cy="1800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Fundamental functions and Utility functions </a:t>
            </a:r>
            <a:endParaRPr/>
          </a:p>
        </p:txBody>
      </p:sp>
      <p:sp>
        <p:nvSpPr>
          <p:cNvPr id="260" name="Google Shape;260;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B3835"/>
              </a:buClr>
              <a:buSzPts val="2400"/>
              <a:buNone/>
            </a:pPr>
            <a:r>
              <a:rPr lang="en-US" sz="2400">
                <a:solidFill>
                  <a:srgbClr val="3B3835"/>
                </a:solidFill>
              </a:rPr>
              <a:t>The following operations are performed on a Doubly Linked List</a:t>
            </a:r>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rPr>
              <a:t>Traversal: </a:t>
            </a:r>
            <a:r>
              <a:rPr lang="en-US"/>
              <a:t>accesses each element of the linked list</a:t>
            </a:r>
            <a:endParaRPr>
              <a:solidFill>
                <a:srgbClr val="3B3835"/>
              </a:solidFill>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rPr>
              <a:t>Insertion: </a:t>
            </a:r>
            <a:r>
              <a:rPr lang="en-US"/>
              <a:t>adds a new element to the linked list</a:t>
            </a:r>
            <a:endParaRPr>
              <a:solidFill>
                <a:srgbClr val="3B3835"/>
              </a:solidFill>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rPr>
              <a:t>Deletion: r</a:t>
            </a:r>
            <a:r>
              <a:rPr lang="en-US"/>
              <a:t>emoves the existing elements</a:t>
            </a:r>
            <a:endParaRPr>
              <a:solidFill>
                <a:srgbClr val="3B3835"/>
              </a:solidFill>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rPr>
              <a:t>Search : Finds a node in the list</a:t>
            </a:r>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rPr>
              <a:t>Sort: Sorts the nodes of the linked list</a:t>
            </a:r>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rPr>
              <a:t>Reverse: Reverses the list</a:t>
            </a:r>
            <a:endParaRPr/>
          </a:p>
          <a:p>
            <a:pPr indent="-228600" lvl="2" marL="1143000" rtl="0" algn="just">
              <a:lnSpc>
                <a:spcPct val="90000"/>
              </a:lnSpc>
              <a:spcBef>
                <a:spcPts val="500"/>
              </a:spcBef>
              <a:spcAft>
                <a:spcPts val="0"/>
              </a:spcAft>
              <a:buClr>
                <a:srgbClr val="3B3835"/>
              </a:buClr>
              <a:buSzPts val="2000"/>
              <a:buNone/>
            </a:pPr>
            <a:r>
              <a:rPr lang="en-US">
                <a:solidFill>
                  <a:srgbClr val="3B3835"/>
                </a:solidFill>
              </a:rPr>
              <a:t> etc.</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8"/>
          <p:cNvSpPr txBox="1"/>
          <p:nvPr>
            <p:ph type="title"/>
          </p:nvPr>
        </p:nvSpPr>
        <p:spPr>
          <a:xfrm>
            <a:off x="838200" y="365125"/>
            <a:ext cx="10515600" cy="107420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40424E"/>
              </a:buClr>
              <a:buSzPct val="100000"/>
              <a:buFont typeface="Arial"/>
              <a:buNone/>
            </a:pPr>
            <a:br>
              <a:rPr b="1" i="0" lang="en-US">
                <a:solidFill>
                  <a:srgbClr val="40424E"/>
                </a:solidFill>
                <a:latin typeface="Arial"/>
                <a:ea typeface="Arial"/>
                <a:cs typeface="Arial"/>
                <a:sym typeface="Arial"/>
              </a:rPr>
            </a:br>
            <a:r>
              <a:rPr i="0" lang="en-US" sz="4900">
                <a:solidFill>
                  <a:srgbClr val="40424E"/>
                </a:solidFill>
              </a:rPr>
              <a:t>First Simple Linked </a:t>
            </a:r>
            <a:br>
              <a:rPr i="0" lang="en-US" sz="4900">
                <a:solidFill>
                  <a:srgbClr val="40424E"/>
                </a:solidFill>
              </a:rPr>
            </a:br>
            <a:r>
              <a:rPr i="0" lang="en-US" sz="4900">
                <a:solidFill>
                  <a:srgbClr val="40424E"/>
                </a:solidFill>
              </a:rPr>
              <a:t>List in C++ </a:t>
            </a:r>
            <a:br>
              <a:rPr b="0" i="0" lang="en-US">
                <a:solidFill>
                  <a:srgbClr val="40424E"/>
                </a:solidFill>
                <a:latin typeface="Arial"/>
                <a:ea typeface="Arial"/>
                <a:cs typeface="Arial"/>
                <a:sym typeface="Arial"/>
              </a:rPr>
            </a:br>
            <a:endParaRPr/>
          </a:p>
        </p:txBody>
      </p:sp>
      <p:pic>
        <p:nvPicPr>
          <p:cNvPr id="266" name="Google Shape;266;p28"/>
          <p:cNvPicPr preferRelativeResize="0"/>
          <p:nvPr>
            <p:ph idx="1" type="body"/>
          </p:nvPr>
        </p:nvPicPr>
        <p:blipFill rotWithShape="1">
          <a:blip r:embed="rId3">
            <a:alphaModFix/>
          </a:blip>
          <a:srcRect b="0" l="0" r="0" t="0"/>
          <a:stretch/>
        </p:blipFill>
        <p:spPr>
          <a:xfrm>
            <a:off x="919999" y="1453243"/>
            <a:ext cx="4403115" cy="515982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Traverse: </a:t>
            </a:r>
            <a:endParaRPr/>
          </a:p>
        </p:txBody>
      </p:sp>
      <p:sp>
        <p:nvSpPr>
          <p:cNvPr id="272" name="Google Shape;272;p29"/>
          <p:cNvSpPr txBox="1"/>
          <p:nvPr>
            <p:ph idx="1" type="body"/>
          </p:nvPr>
        </p:nvSpPr>
        <p:spPr>
          <a:xfrm>
            <a:off x="838200" y="1825625"/>
            <a:ext cx="414528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None/>
            </a:pPr>
            <a:r>
              <a:t/>
            </a:r>
            <a:endParaRPr sz="2400"/>
          </a:p>
        </p:txBody>
      </p:sp>
      <p:pic>
        <p:nvPicPr>
          <p:cNvPr id="273" name="Google Shape;273;p29"/>
          <p:cNvPicPr preferRelativeResize="0"/>
          <p:nvPr/>
        </p:nvPicPr>
        <p:blipFill rotWithShape="1">
          <a:blip r:embed="rId3">
            <a:alphaModFix/>
          </a:blip>
          <a:srcRect b="0" l="0" r="0" t="0"/>
          <a:stretch/>
        </p:blipFill>
        <p:spPr>
          <a:xfrm>
            <a:off x="1450494" y="1843114"/>
            <a:ext cx="6876250" cy="34073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Traverse Backwards</a:t>
            </a:r>
            <a:endParaRPr/>
          </a:p>
        </p:txBody>
      </p:sp>
      <p:sp>
        <p:nvSpPr>
          <p:cNvPr id="279" name="Google Shape;279;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rPr lang="en-US"/>
              <a:t>Write yourself??</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Insertion</a:t>
            </a:r>
            <a:endParaRPr/>
          </a:p>
        </p:txBody>
      </p:sp>
      <p:sp>
        <p:nvSpPr>
          <p:cNvPr id="285" name="Google Shape;285;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Insert at beginning</a:t>
            </a:r>
            <a:endParaRPr/>
          </a:p>
          <a:p>
            <a:pPr indent="-228600" lvl="0" marL="228600" rtl="0" algn="l">
              <a:lnSpc>
                <a:spcPct val="90000"/>
              </a:lnSpc>
              <a:spcBef>
                <a:spcPts val="1000"/>
              </a:spcBef>
              <a:spcAft>
                <a:spcPts val="0"/>
              </a:spcAft>
              <a:buClr>
                <a:schemeClr val="dk1"/>
              </a:buClr>
              <a:buSzPts val="2800"/>
              <a:buChar char="•"/>
            </a:pPr>
            <a:r>
              <a:rPr lang="en-US"/>
              <a:t>Insert at end </a:t>
            </a:r>
            <a:endParaRPr/>
          </a:p>
          <a:p>
            <a:pPr indent="-228600" lvl="0" marL="228600" rtl="0" algn="l">
              <a:lnSpc>
                <a:spcPct val="90000"/>
              </a:lnSpc>
              <a:spcBef>
                <a:spcPts val="1000"/>
              </a:spcBef>
              <a:spcAft>
                <a:spcPts val="0"/>
              </a:spcAft>
              <a:buClr>
                <a:schemeClr val="dk1"/>
              </a:buClr>
              <a:buSzPts val="2800"/>
              <a:buChar char="•"/>
            </a:pPr>
            <a:r>
              <a:rPr lang="en-US"/>
              <a:t>Insert at any position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Insert at beginning </a:t>
            </a:r>
            <a:endParaRPr/>
          </a:p>
        </p:txBody>
      </p:sp>
      <p:pic>
        <p:nvPicPr>
          <p:cNvPr id="291" name="Google Shape;291;p32"/>
          <p:cNvPicPr preferRelativeResize="0"/>
          <p:nvPr>
            <p:ph idx="1" type="body"/>
          </p:nvPr>
        </p:nvPicPr>
        <p:blipFill rotWithShape="1">
          <a:blip r:embed="rId3">
            <a:alphaModFix/>
          </a:blip>
          <a:srcRect b="1900" l="0" r="0" t="-1900"/>
          <a:stretch/>
        </p:blipFill>
        <p:spPr>
          <a:xfrm>
            <a:off x="2841171" y="1616529"/>
            <a:ext cx="7198179" cy="401682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Add_node (Insert at end)</a:t>
            </a:r>
            <a:endParaRPr/>
          </a:p>
        </p:txBody>
      </p:sp>
      <p:sp>
        <p:nvSpPr>
          <p:cNvPr id="297" name="Google Shape;297;p33"/>
          <p:cNvSpPr txBox="1"/>
          <p:nvPr>
            <p:ph idx="1" type="body"/>
          </p:nvPr>
        </p:nvSpPr>
        <p:spPr>
          <a:xfrm>
            <a:off x="838200" y="1825625"/>
            <a:ext cx="3490609"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Insert in an empty LL and Insert at end </a:t>
            </a:r>
            <a:endParaRPr/>
          </a:p>
        </p:txBody>
      </p:sp>
      <p:pic>
        <p:nvPicPr>
          <p:cNvPr id="298" name="Google Shape;298;p33"/>
          <p:cNvPicPr preferRelativeResize="0"/>
          <p:nvPr/>
        </p:nvPicPr>
        <p:blipFill rotWithShape="1">
          <a:blip r:embed="rId3">
            <a:alphaModFix/>
          </a:blip>
          <a:srcRect b="0" l="0" r="0" t="0"/>
          <a:stretch/>
        </p:blipFill>
        <p:spPr>
          <a:xfrm>
            <a:off x="4521652" y="1954667"/>
            <a:ext cx="6399901" cy="354806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Insert at any position</a:t>
            </a:r>
            <a:endParaRPr/>
          </a:p>
        </p:txBody>
      </p:sp>
      <p:sp>
        <p:nvSpPr>
          <p:cNvPr id="304" name="Google Shape;304;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305" name="Google Shape;305;p34"/>
          <p:cNvPicPr preferRelativeResize="0"/>
          <p:nvPr/>
        </p:nvPicPr>
        <p:blipFill rotWithShape="1">
          <a:blip r:embed="rId3">
            <a:alphaModFix/>
          </a:blip>
          <a:srcRect b="0" l="0" r="0" t="0"/>
          <a:stretch/>
        </p:blipFill>
        <p:spPr>
          <a:xfrm>
            <a:off x="2481943" y="1518556"/>
            <a:ext cx="6335486" cy="446314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Deletion</a:t>
            </a:r>
            <a:endParaRPr/>
          </a:p>
        </p:txBody>
      </p:sp>
      <p:sp>
        <p:nvSpPr>
          <p:cNvPr id="311" name="Google Shape;311;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Delete from beginning/start/head/at front</a:t>
            </a:r>
            <a:endParaRPr/>
          </a:p>
          <a:p>
            <a:pPr indent="-228600" lvl="0" marL="228600" rtl="0" algn="l">
              <a:lnSpc>
                <a:spcPct val="90000"/>
              </a:lnSpc>
              <a:spcBef>
                <a:spcPts val="1000"/>
              </a:spcBef>
              <a:spcAft>
                <a:spcPts val="0"/>
              </a:spcAft>
              <a:buClr>
                <a:schemeClr val="dk1"/>
              </a:buClr>
              <a:buSzPts val="2800"/>
              <a:buChar char="•"/>
            </a:pPr>
            <a:r>
              <a:rPr lang="en-US"/>
              <a:t>Delete from end </a:t>
            </a:r>
            <a:endParaRPr/>
          </a:p>
          <a:p>
            <a:pPr indent="-228600" lvl="0" marL="228600" rtl="0" algn="l">
              <a:lnSpc>
                <a:spcPct val="90000"/>
              </a:lnSpc>
              <a:spcBef>
                <a:spcPts val="1000"/>
              </a:spcBef>
              <a:spcAft>
                <a:spcPts val="0"/>
              </a:spcAft>
              <a:buClr>
                <a:schemeClr val="dk1"/>
              </a:buClr>
              <a:buSzPts val="2800"/>
              <a:buChar char="•"/>
            </a:pPr>
            <a:r>
              <a:rPr lang="en-US"/>
              <a:t>Delete at any position</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Delete at front</a:t>
            </a:r>
            <a:br>
              <a:rPr lang="en-US"/>
            </a:br>
            <a:endParaRPr/>
          </a:p>
        </p:txBody>
      </p:sp>
      <p:sp>
        <p:nvSpPr>
          <p:cNvPr id="317" name="Google Shape;317;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318" name="Google Shape;318;p36"/>
          <p:cNvPicPr preferRelativeResize="0"/>
          <p:nvPr/>
        </p:nvPicPr>
        <p:blipFill rotWithShape="1">
          <a:blip r:embed="rId3">
            <a:alphaModFix/>
          </a:blip>
          <a:srcRect b="0" l="0" r="0" t="0"/>
          <a:stretch/>
        </p:blipFill>
        <p:spPr>
          <a:xfrm>
            <a:off x="3498397" y="1635579"/>
            <a:ext cx="4476750" cy="43053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Delete from end</a:t>
            </a:r>
            <a:endParaRPr/>
          </a:p>
        </p:txBody>
      </p:sp>
      <p:sp>
        <p:nvSpPr>
          <p:cNvPr id="324" name="Google Shape;324;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325" name="Google Shape;325;p37"/>
          <p:cNvPicPr preferRelativeResize="0"/>
          <p:nvPr/>
        </p:nvPicPr>
        <p:blipFill rotWithShape="1">
          <a:blip r:embed="rId3">
            <a:alphaModFix/>
          </a:blip>
          <a:srcRect b="0" l="0" r="0" t="0"/>
          <a:stretch/>
        </p:blipFill>
        <p:spPr>
          <a:xfrm>
            <a:off x="1025478" y="1959429"/>
            <a:ext cx="7213647" cy="351064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Delete at any position</a:t>
            </a:r>
            <a:endParaRPr/>
          </a:p>
        </p:txBody>
      </p:sp>
      <p:sp>
        <p:nvSpPr>
          <p:cNvPr id="331" name="Google Shape;331;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rPr lang="en-US"/>
              <a:t>Do yourself?</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Search</a:t>
            </a:r>
            <a:endParaRPr/>
          </a:p>
        </p:txBody>
      </p:sp>
      <p:sp>
        <p:nvSpPr>
          <p:cNvPr id="337" name="Google Shape;337;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338" name="Google Shape;338;p39"/>
          <p:cNvPicPr preferRelativeResize="0"/>
          <p:nvPr/>
        </p:nvPicPr>
        <p:blipFill rotWithShape="1">
          <a:blip r:embed="rId3">
            <a:alphaModFix/>
          </a:blip>
          <a:srcRect b="0" l="0" r="0" t="0"/>
          <a:stretch/>
        </p:blipFill>
        <p:spPr>
          <a:xfrm>
            <a:off x="2024743" y="2188029"/>
            <a:ext cx="6466795" cy="226967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Sort</a:t>
            </a:r>
            <a:endParaRPr/>
          </a:p>
        </p:txBody>
      </p:sp>
      <p:sp>
        <p:nvSpPr>
          <p:cNvPr id="344" name="Google Shape;344;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rPr lang="en-US"/>
              <a:t>Write yourself?</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Reverse</a:t>
            </a:r>
            <a:endParaRPr/>
          </a:p>
        </p:txBody>
      </p:sp>
      <p:sp>
        <p:nvSpPr>
          <p:cNvPr id="350" name="Google Shape;350;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351" name="Google Shape;351;p41"/>
          <p:cNvPicPr preferRelativeResize="0"/>
          <p:nvPr/>
        </p:nvPicPr>
        <p:blipFill rotWithShape="1">
          <a:blip r:embed="rId3">
            <a:alphaModFix/>
          </a:blip>
          <a:srcRect b="0" l="0" r="0" t="0"/>
          <a:stretch/>
        </p:blipFill>
        <p:spPr>
          <a:xfrm>
            <a:off x="2439814" y="2052638"/>
            <a:ext cx="5546899" cy="403791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Applications discussion</a:t>
            </a:r>
            <a:endParaRPr/>
          </a:p>
        </p:txBody>
      </p:sp>
      <p:sp>
        <p:nvSpPr>
          <p:cNvPr id="357" name="Google Shape;357;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None/>
            </a:pPr>
            <a:r>
              <a:rPr lang="en-US"/>
              <a:t>Linked lists are used in variety of applications in computer Science.</a:t>
            </a:r>
            <a:endParaRPr/>
          </a:p>
          <a:p>
            <a:pPr indent="-228600" lvl="0" marL="228600" rtl="0" algn="l">
              <a:lnSpc>
                <a:spcPct val="90000"/>
              </a:lnSpc>
              <a:spcBef>
                <a:spcPts val="1000"/>
              </a:spcBef>
              <a:spcAft>
                <a:spcPts val="0"/>
              </a:spcAft>
              <a:buClr>
                <a:schemeClr val="dk1"/>
              </a:buClr>
              <a:buSzPct val="100000"/>
              <a:buChar char="•"/>
            </a:pPr>
            <a:r>
              <a:rPr lang="en-US"/>
              <a:t>It is used very often into operating system concepts and in places where we cannot get a large chunk of memory or we have to use dynamic memory.</a:t>
            </a:r>
            <a:endParaRPr/>
          </a:p>
          <a:p>
            <a:pPr indent="-228600" lvl="1" marL="685800" rtl="0" algn="l">
              <a:lnSpc>
                <a:spcPct val="90000"/>
              </a:lnSpc>
              <a:spcBef>
                <a:spcPts val="500"/>
              </a:spcBef>
              <a:spcAft>
                <a:spcPts val="0"/>
              </a:spcAft>
              <a:buClr>
                <a:schemeClr val="dk1"/>
              </a:buClr>
              <a:buSzPct val="100000"/>
              <a:buNone/>
            </a:pPr>
            <a:br>
              <a:rPr lang="en-US"/>
            </a:br>
            <a:r>
              <a:rPr lang="en-US"/>
              <a:t>For ex, if you have data worth 1.5 GB and you cannot get that much contiguous space in your computer, but you can get at most 0.5 GB of contiguous memory chunk, you can divide the data into 3 parts and then store the location of first chunk somewhere, store the location of second chunk in first chunk, location of third chunk in second chunk and so on.</a:t>
            </a:r>
            <a:br>
              <a:rPr lang="en-US"/>
            </a:br>
            <a:br>
              <a:rPr lang="en-US"/>
            </a:br>
            <a:r>
              <a:rPr lang="en-US"/>
              <a:t>In this way , you can read this large chunk of data without having to bother to store it as a large chunk</a:t>
            </a:r>
            <a:endParaRPr/>
          </a:p>
          <a:p>
            <a:pPr indent="-228600" lvl="0" marL="228600" rtl="0" algn="l">
              <a:lnSpc>
                <a:spcPct val="90000"/>
              </a:lnSpc>
              <a:spcBef>
                <a:spcPts val="1000"/>
              </a:spcBef>
              <a:spcAft>
                <a:spcPts val="0"/>
              </a:spcAft>
              <a:buClr>
                <a:schemeClr val="dk1"/>
              </a:buClr>
              <a:buSzPct val="100000"/>
              <a:buChar char="•"/>
            </a:pPr>
            <a:r>
              <a:rPr lang="en-US"/>
              <a:t>Undo functionality in photo editors, text editors. (a linked list of different states)</a:t>
            </a:r>
            <a:endParaRPr/>
          </a:p>
          <a:p>
            <a:pPr indent="-228600" lvl="0" marL="228600" rtl="0" algn="l">
              <a:lnSpc>
                <a:spcPct val="90000"/>
              </a:lnSpc>
              <a:spcBef>
                <a:spcPts val="1000"/>
              </a:spcBef>
              <a:spcAft>
                <a:spcPts val="0"/>
              </a:spcAft>
              <a:buClr>
                <a:schemeClr val="dk1"/>
              </a:buClr>
              <a:buSzPct val="100000"/>
              <a:buChar char="•"/>
            </a:pPr>
            <a:r>
              <a:rPr lang="en-US"/>
              <a:t>The cache in browser. (allows you to hit back and fwd links URL’s through linked list)</a:t>
            </a:r>
            <a:endParaRPr/>
          </a:p>
          <a:p>
            <a:pPr indent="-228600" lvl="0" marL="228600" rtl="0" algn="l">
              <a:lnSpc>
                <a:spcPct val="90000"/>
              </a:lnSpc>
              <a:spcBef>
                <a:spcPts val="1000"/>
              </a:spcBef>
              <a:spcAft>
                <a:spcPts val="0"/>
              </a:spcAft>
              <a:buClr>
                <a:schemeClr val="dk1"/>
              </a:buClr>
              <a:buSzPct val="100000"/>
              <a:buChar char="•"/>
            </a:pPr>
            <a:r>
              <a:rPr lang="en-US"/>
              <a:t>Image viewer! (next and previous button. the next and previous images are linked there</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7eb3471d37_0_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Circular Linked List</a:t>
            </a:r>
            <a:endParaRPr/>
          </a:p>
        </p:txBody>
      </p:sp>
      <p:sp>
        <p:nvSpPr>
          <p:cNvPr id="364" name="Google Shape;364;g37eb3471d37_0_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365" name="Google Shape;365;g37eb3471d37_0_6"/>
          <p:cNvPicPr preferRelativeResize="0"/>
          <p:nvPr/>
        </p:nvPicPr>
        <p:blipFill>
          <a:blip r:embed="rId3">
            <a:alphaModFix/>
          </a:blip>
          <a:stretch>
            <a:fillRect/>
          </a:stretch>
        </p:blipFill>
        <p:spPr>
          <a:xfrm>
            <a:off x="3343275" y="2209800"/>
            <a:ext cx="5505450" cy="24384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37eb3471d37_0_1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Fundamental functions and Utility functions </a:t>
            </a:r>
            <a:endParaRPr/>
          </a:p>
        </p:txBody>
      </p:sp>
      <p:sp>
        <p:nvSpPr>
          <p:cNvPr id="371" name="Google Shape;371;g37eb3471d37_0_1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B3835"/>
              </a:buClr>
              <a:buSzPts val="2400"/>
              <a:buNone/>
            </a:pPr>
            <a:r>
              <a:rPr lang="en-US" sz="2400">
                <a:solidFill>
                  <a:srgbClr val="3B3835"/>
                </a:solidFill>
              </a:rPr>
              <a:t>The following operations are performed on a Circular Linked List</a:t>
            </a:r>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rPr>
              <a:t>Traversal: </a:t>
            </a:r>
            <a:r>
              <a:rPr lang="en-US"/>
              <a:t>accesses each element of the linked list</a:t>
            </a:r>
            <a:endParaRPr>
              <a:solidFill>
                <a:srgbClr val="3B3835"/>
              </a:solidFill>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rPr>
              <a:t>Insertion: </a:t>
            </a:r>
            <a:r>
              <a:rPr lang="en-US"/>
              <a:t>adds a new element to the linked list</a:t>
            </a:r>
            <a:endParaRPr>
              <a:solidFill>
                <a:srgbClr val="3B3835"/>
              </a:solidFill>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rPr>
              <a:t>Deletion: r</a:t>
            </a:r>
            <a:r>
              <a:rPr lang="en-US"/>
              <a:t>emoves the existing elements</a:t>
            </a:r>
            <a:endParaRPr>
              <a:solidFill>
                <a:srgbClr val="3B3835"/>
              </a:solidFill>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rPr>
              <a:t>Search : Finds a node in the list</a:t>
            </a:r>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rPr>
              <a:t>Sort: Sorts the nodes of the linked list</a:t>
            </a:r>
            <a:endParaRPr/>
          </a:p>
          <a:p>
            <a:pPr indent="-228600" lvl="2" marL="1143000" rtl="0" algn="just">
              <a:lnSpc>
                <a:spcPct val="90000"/>
              </a:lnSpc>
              <a:spcBef>
                <a:spcPts val="500"/>
              </a:spcBef>
              <a:spcAft>
                <a:spcPts val="0"/>
              </a:spcAft>
              <a:buClr>
                <a:srgbClr val="3B3835"/>
              </a:buClr>
              <a:buSzPts val="2000"/>
              <a:buChar char="•"/>
            </a:pPr>
            <a:r>
              <a:rPr lang="en-US">
                <a:solidFill>
                  <a:srgbClr val="3B3835"/>
                </a:solidFill>
              </a:rPr>
              <a:t>Reverse: Reverses the list</a:t>
            </a:r>
            <a:endParaRPr/>
          </a:p>
          <a:p>
            <a:pPr indent="-228600" lvl="2" marL="1143000" rtl="0" algn="just">
              <a:lnSpc>
                <a:spcPct val="90000"/>
              </a:lnSpc>
              <a:spcBef>
                <a:spcPts val="500"/>
              </a:spcBef>
              <a:spcAft>
                <a:spcPts val="0"/>
              </a:spcAft>
              <a:buClr>
                <a:srgbClr val="3B3835"/>
              </a:buClr>
              <a:buSzPts val="2000"/>
              <a:buNone/>
            </a:pPr>
            <a:r>
              <a:rPr lang="en-US">
                <a:solidFill>
                  <a:srgbClr val="3B3835"/>
                </a:solidFill>
              </a:rPr>
              <a:t> etc.</a:t>
            </a:r>
            <a:endParaRPr/>
          </a:p>
          <a:p>
            <a:pPr indent="-50800" lvl="0" marL="228600" rtl="0" algn="l">
              <a:lnSpc>
                <a:spcPct val="90000"/>
              </a:lnSpc>
              <a:spcBef>
                <a:spcPts val="1000"/>
              </a:spcBef>
              <a:spcAft>
                <a:spcPts val="0"/>
              </a:spcAft>
              <a:buClr>
                <a:schemeClr val="dk1"/>
              </a:buClr>
              <a:buSzPts val="2800"/>
              <a:buNone/>
            </a:pPr>
            <a:r>
              <a:rPr lang="en-US"/>
              <a:t>Circular linked list can have two variations, Singly circular linked list and Doubly circular linked list.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2021-02-21T19:22:29Z</dcterms:created>
  <dc:creator>Islam un Nisa</dc:creator>
</cp:coreProperties>
</file>