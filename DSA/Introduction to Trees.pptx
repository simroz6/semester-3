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9" r:id="rId30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23641" y="436067"/>
            <a:ext cx="4123054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57855" y="436067"/>
            <a:ext cx="2757804" cy="1366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78295" y="1982055"/>
            <a:ext cx="7014209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981200" y="2819400"/>
            <a:ext cx="5620385" cy="1951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0" dirty="0" smtClean="0">
                <a:latin typeface="Arial MT"/>
                <a:cs typeface="Arial MT"/>
              </a:rPr>
              <a:t>Intro</a:t>
            </a:r>
            <a:r>
              <a:rPr lang="en-US" sz="4200" spc="-10" dirty="0" smtClean="0">
                <a:latin typeface="Arial MT"/>
                <a:cs typeface="Arial MT"/>
              </a:rPr>
              <a:t>duction</a:t>
            </a:r>
            <a:r>
              <a:rPr sz="4200" spc="-40" dirty="0" smtClean="0">
                <a:latin typeface="Arial MT"/>
                <a:cs typeface="Arial MT"/>
              </a:rPr>
              <a:t> </a:t>
            </a:r>
            <a:r>
              <a:rPr sz="4200" spc="-5" dirty="0">
                <a:latin typeface="Arial MT"/>
                <a:cs typeface="Arial MT"/>
              </a:rPr>
              <a:t>to</a:t>
            </a:r>
            <a:r>
              <a:rPr sz="4200" spc="-110" dirty="0">
                <a:latin typeface="Arial MT"/>
                <a:cs typeface="Arial MT"/>
              </a:rPr>
              <a:t> </a:t>
            </a:r>
            <a:r>
              <a:rPr sz="4200" spc="-35" dirty="0" smtClean="0">
                <a:latin typeface="Arial MT"/>
                <a:cs typeface="Arial MT"/>
              </a:rPr>
              <a:t>Trees</a:t>
            </a:r>
            <a:r>
              <a:rPr lang="en-US" sz="4200" spc="-35" dirty="0" smtClean="0">
                <a:latin typeface="Arial MT"/>
                <a:cs typeface="Arial MT"/>
              </a:rPr>
              <a:t>, Binary Tree, Complete Binary tree</a:t>
            </a:r>
            <a:endParaRPr sz="4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67001" y="436067"/>
            <a:ext cx="253504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5" dirty="0" smtClean="0"/>
              <a:t>Outlin</a:t>
            </a:r>
            <a:r>
              <a:rPr dirty="0" smtClean="0"/>
              <a:t>e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535940" y="1558998"/>
            <a:ext cx="442023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5" dirty="0">
                <a:latin typeface="Arial MT"/>
                <a:cs typeface="Arial MT"/>
              </a:rPr>
              <a:t>In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this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topic,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we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will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cover: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4018" y="2072586"/>
            <a:ext cx="6179820" cy="3994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8135" marR="5080" indent="-306070">
              <a:lnSpc>
                <a:spcPct val="108100"/>
              </a:lnSpc>
              <a:spcBef>
                <a:spcPts val="100"/>
              </a:spcBef>
              <a:buChar char="–"/>
              <a:tabLst>
                <a:tab pos="318770" algn="l"/>
              </a:tabLst>
            </a:pPr>
            <a:r>
              <a:rPr sz="2600" spc="-5" dirty="0">
                <a:latin typeface="Arial MT"/>
                <a:cs typeface="Arial MT"/>
              </a:rPr>
              <a:t>Definition of </a:t>
            </a:r>
            <a:r>
              <a:rPr sz="2600" dirty="0">
                <a:latin typeface="Arial MT"/>
                <a:cs typeface="Arial MT"/>
              </a:rPr>
              <a:t>a </a:t>
            </a:r>
            <a:r>
              <a:rPr sz="2600" spc="-5" dirty="0">
                <a:latin typeface="Arial MT"/>
                <a:cs typeface="Arial MT"/>
              </a:rPr>
              <a:t>tree data </a:t>
            </a:r>
            <a:r>
              <a:rPr sz="2600" dirty="0">
                <a:latin typeface="Arial MT"/>
                <a:cs typeface="Arial MT"/>
              </a:rPr>
              <a:t>structure </a:t>
            </a:r>
            <a:r>
              <a:rPr sz="2600" spc="-5" dirty="0">
                <a:latin typeface="Arial MT"/>
                <a:cs typeface="Arial MT"/>
              </a:rPr>
              <a:t>and its </a:t>
            </a:r>
            <a:r>
              <a:rPr sz="2600" spc="-7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components</a:t>
            </a:r>
            <a:endParaRPr sz="2600">
              <a:latin typeface="Arial MT"/>
              <a:cs typeface="Arial MT"/>
            </a:endParaRPr>
          </a:p>
          <a:p>
            <a:pPr marL="318135" indent="-306070">
              <a:lnSpc>
                <a:spcPct val="100000"/>
              </a:lnSpc>
              <a:spcBef>
                <a:spcPts val="520"/>
              </a:spcBef>
              <a:buChar char="–"/>
              <a:tabLst>
                <a:tab pos="318770" algn="l"/>
              </a:tabLst>
            </a:pPr>
            <a:r>
              <a:rPr sz="2600" spc="-5" dirty="0">
                <a:latin typeface="Arial MT"/>
                <a:cs typeface="Arial MT"/>
              </a:rPr>
              <a:t>Concepts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5" dirty="0">
                <a:latin typeface="Arial MT"/>
                <a:cs typeface="Arial MT"/>
              </a:rPr>
              <a:t>of:</a:t>
            </a:r>
            <a:endParaRPr sz="2600">
              <a:latin typeface="Arial MT"/>
              <a:cs typeface="Arial MT"/>
            </a:endParaRPr>
          </a:p>
          <a:p>
            <a:pPr marL="717550" lvl="1" indent="-187960">
              <a:lnSpc>
                <a:spcPct val="100000"/>
              </a:lnSpc>
              <a:spcBef>
                <a:spcPts val="280"/>
              </a:spcBef>
              <a:buChar char="•"/>
              <a:tabLst>
                <a:tab pos="718185" algn="l"/>
              </a:tabLst>
            </a:pPr>
            <a:r>
              <a:rPr sz="2200" spc="-5" dirty="0">
                <a:latin typeface="Arial MT"/>
                <a:cs typeface="Arial MT"/>
              </a:rPr>
              <a:t>Root,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internal,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leaf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nodes</a:t>
            </a:r>
            <a:endParaRPr sz="2200">
              <a:latin typeface="Arial MT"/>
              <a:cs typeface="Arial MT"/>
            </a:endParaRPr>
          </a:p>
          <a:p>
            <a:pPr marL="717550" lvl="1" indent="-187960">
              <a:lnSpc>
                <a:spcPct val="100000"/>
              </a:lnSpc>
              <a:spcBef>
                <a:spcPts val="265"/>
              </a:spcBef>
              <a:buChar char="•"/>
              <a:tabLst>
                <a:tab pos="718185" algn="l"/>
              </a:tabLst>
            </a:pPr>
            <a:r>
              <a:rPr sz="2200" spc="-5" dirty="0">
                <a:latin typeface="Arial MT"/>
                <a:cs typeface="Arial MT"/>
              </a:rPr>
              <a:t>Parents,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children,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siblings</a:t>
            </a:r>
            <a:endParaRPr sz="2200">
              <a:latin typeface="Arial MT"/>
              <a:cs typeface="Arial MT"/>
            </a:endParaRPr>
          </a:p>
          <a:p>
            <a:pPr marL="717550" lvl="1" indent="-187960">
              <a:lnSpc>
                <a:spcPct val="100000"/>
              </a:lnSpc>
              <a:spcBef>
                <a:spcPts val="265"/>
              </a:spcBef>
              <a:buChar char="•"/>
              <a:tabLst>
                <a:tab pos="718185" algn="l"/>
              </a:tabLst>
            </a:pPr>
            <a:r>
              <a:rPr sz="2200" spc="-5" dirty="0">
                <a:latin typeface="Arial MT"/>
                <a:cs typeface="Arial MT"/>
              </a:rPr>
              <a:t>Paths,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path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length,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height,</a:t>
            </a:r>
            <a:r>
              <a:rPr sz="2200" spc="-1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depth</a:t>
            </a:r>
            <a:endParaRPr sz="2200">
              <a:latin typeface="Arial MT"/>
              <a:cs typeface="Arial MT"/>
            </a:endParaRPr>
          </a:p>
          <a:p>
            <a:pPr marL="717550" lvl="1" indent="-187960">
              <a:lnSpc>
                <a:spcPct val="100000"/>
              </a:lnSpc>
              <a:spcBef>
                <a:spcPts val="265"/>
              </a:spcBef>
              <a:buChar char="•"/>
              <a:tabLst>
                <a:tab pos="718185" algn="l"/>
              </a:tabLst>
            </a:pPr>
            <a:r>
              <a:rPr sz="2200" spc="-5" dirty="0">
                <a:latin typeface="Arial MT"/>
                <a:cs typeface="Arial MT"/>
              </a:rPr>
              <a:t>Ancestors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descendants</a:t>
            </a:r>
            <a:endParaRPr sz="2200">
              <a:latin typeface="Arial MT"/>
              <a:cs typeface="Arial MT"/>
            </a:endParaRPr>
          </a:p>
          <a:p>
            <a:pPr marL="717550" lvl="1" indent="-187960">
              <a:lnSpc>
                <a:spcPct val="100000"/>
              </a:lnSpc>
              <a:spcBef>
                <a:spcPts val="265"/>
              </a:spcBef>
              <a:buChar char="•"/>
              <a:tabLst>
                <a:tab pos="718185" algn="l"/>
              </a:tabLst>
            </a:pPr>
            <a:r>
              <a:rPr sz="2200" spc="-5" dirty="0">
                <a:latin typeface="Arial MT"/>
                <a:cs typeface="Arial MT"/>
              </a:rPr>
              <a:t>Ordered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and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unordered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5" dirty="0">
                <a:latin typeface="Arial MT"/>
                <a:cs typeface="Arial MT"/>
              </a:rPr>
              <a:t>trees</a:t>
            </a:r>
            <a:endParaRPr sz="2200">
              <a:latin typeface="Arial MT"/>
              <a:cs typeface="Arial MT"/>
            </a:endParaRPr>
          </a:p>
          <a:p>
            <a:pPr marL="717550" lvl="1" indent="-187960">
              <a:lnSpc>
                <a:spcPct val="100000"/>
              </a:lnSpc>
              <a:spcBef>
                <a:spcPts val="265"/>
              </a:spcBef>
              <a:buChar char="•"/>
              <a:tabLst>
                <a:tab pos="718185" algn="l"/>
              </a:tabLst>
            </a:pPr>
            <a:r>
              <a:rPr sz="2200" spc="-5" dirty="0">
                <a:latin typeface="Arial MT"/>
                <a:cs typeface="Arial MT"/>
              </a:rPr>
              <a:t>Subtrees</a:t>
            </a:r>
            <a:endParaRPr sz="2200">
              <a:latin typeface="Arial MT"/>
              <a:cs typeface="Arial MT"/>
            </a:endParaRPr>
          </a:p>
          <a:p>
            <a:pPr marL="318135" indent="-306070">
              <a:lnSpc>
                <a:spcPct val="100000"/>
              </a:lnSpc>
              <a:spcBef>
                <a:spcPts val="295"/>
              </a:spcBef>
              <a:buChar char="–"/>
              <a:tabLst>
                <a:tab pos="318770" algn="l"/>
              </a:tabLst>
            </a:pPr>
            <a:r>
              <a:rPr sz="2600" spc="-5" dirty="0">
                <a:latin typeface="Arial MT"/>
                <a:cs typeface="Arial MT"/>
              </a:rPr>
              <a:t>Examples</a:t>
            </a:r>
            <a:endParaRPr sz="2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6358" y="436067"/>
            <a:ext cx="5874642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Why</a:t>
            </a:r>
            <a:r>
              <a:rPr spc="-175" dirty="0"/>
              <a:t> </a:t>
            </a:r>
            <a:r>
              <a:rPr spc="-40" dirty="0" smtClean="0"/>
              <a:t>Trees</a:t>
            </a:r>
            <a:r>
              <a:rPr lang="en-US" spc="-40" dirty="0" smtClean="0"/>
              <a:t> </a:t>
            </a:r>
            <a:r>
              <a:rPr spc="-5" dirty="0" smtClean="0"/>
              <a:t>Structure</a:t>
            </a:r>
            <a:r>
              <a:rPr spc="-5" dirty="0"/>
              <a:t>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4167" y="1600200"/>
            <a:ext cx="6249446" cy="48848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8589" y="436067"/>
            <a:ext cx="259461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70" dirty="0" smtClean="0"/>
              <a:t>T</a:t>
            </a:r>
            <a:r>
              <a:rPr dirty="0" smtClean="0"/>
              <a:t>rees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78838" y="1607638"/>
            <a:ext cx="622173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rooted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tree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data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structure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stores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information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nodes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9666" y="1912469"/>
            <a:ext cx="6646545" cy="1236980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545"/>
              </a:spcBef>
              <a:buChar char="–"/>
              <a:tabLst>
                <a:tab pos="312420" algn="l"/>
                <a:tab pos="313055" algn="l"/>
              </a:tabLst>
            </a:pPr>
            <a:r>
              <a:rPr sz="1800" spc="-5" dirty="0">
                <a:latin typeface="Arial MT"/>
                <a:cs typeface="Arial MT"/>
              </a:rPr>
              <a:t>Similar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linked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lists:</a:t>
            </a:r>
            <a:endParaRPr sz="1800">
              <a:latin typeface="Arial MT"/>
              <a:cs typeface="Arial MT"/>
            </a:endParaRPr>
          </a:p>
          <a:p>
            <a:pPr marL="711835" lvl="1" indent="-199390">
              <a:lnSpc>
                <a:spcPct val="100000"/>
              </a:lnSpc>
              <a:spcBef>
                <a:spcPts val="400"/>
              </a:spcBef>
              <a:buChar char="•"/>
              <a:tabLst>
                <a:tab pos="711835" algn="l"/>
                <a:tab pos="712470" algn="l"/>
              </a:tabLst>
            </a:pPr>
            <a:r>
              <a:rPr sz="1600" spc="-5" dirty="0">
                <a:latin typeface="Arial MT"/>
                <a:cs typeface="Arial MT"/>
              </a:rPr>
              <a:t>There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first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node,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or</a:t>
            </a:r>
            <a:r>
              <a:rPr sz="1600" spc="20" dirty="0">
                <a:latin typeface="Arial MT"/>
                <a:cs typeface="Arial MT"/>
              </a:rPr>
              <a:t> </a:t>
            </a:r>
            <a:r>
              <a:rPr sz="1600" i="1" dirty="0">
                <a:latin typeface="Arial"/>
                <a:cs typeface="Arial"/>
              </a:rPr>
              <a:t>root</a:t>
            </a:r>
            <a:endParaRPr sz="1600">
              <a:latin typeface="Arial"/>
              <a:cs typeface="Arial"/>
            </a:endParaRPr>
          </a:p>
          <a:p>
            <a:pPr marL="711835" lvl="1" indent="-199390">
              <a:lnSpc>
                <a:spcPct val="100000"/>
              </a:lnSpc>
              <a:spcBef>
                <a:spcPts val="385"/>
              </a:spcBef>
              <a:buChar char="•"/>
              <a:tabLst>
                <a:tab pos="711835" algn="l"/>
                <a:tab pos="712470" algn="l"/>
              </a:tabLst>
            </a:pPr>
            <a:r>
              <a:rPr sz="1600" spc="-5" dirty="0">
                <a:latin typeface="Arial MT"/>
                <a:cs typeface="Arial MT"/>
              </a:rPr>
              <a:t>Each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node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has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variable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number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of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references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successors</a:t>
            </a:r>
            <a:endParaRPr sz="1600">
              <a:latin typeface="Arial MT"/>
              <a:cs typeface="Arial MT"/>
            </a:endParaRPr>
          </a:p>
          <a:p>
            <a:pPr marL="711835" lvl="1" indent="-199390">
              <a:lnSpc>
                <a:spcPct val="100000"/>
              </a:lnSpc>
              <a:spcBef>
                <a:spcPts val="385"/>
              </a:spcBef>
              <a:buChar char="•"/>
              <a:tabLst>
                <a:tab pos="711835" algn="l"/>
                <a:tab pos="712470" algn="l"/>
              </a:tabLst>
            </a:pPr>
            <a:r>
              <a:rPr sz="1600" spc="-5" dirty="0">
                <a:latin typeface="Arial MT"/>
                <a:cs typeface="Arial MT"/>
              </a:rPr>
              <a:t>Each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node,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other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than the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root,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has exactly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one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node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pointing to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spc="-5" dirty="0">
                <a:latin typeface="Arial MT"/>
                <a:cs typeface="Arial MT"/>
              </a:rPr>
              <a:t>it</a:t>
            </a:r>
            <a:endParaRPr sz="16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4016" y="3363516"/>
            <a:ext cx="3804293" cy="28312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7854" y="436067"/>
            <a:ext cx="35477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490" dirty="0" smtClean="0"/>
              <a:t>T</a:t>
            </a:r>
            <a:r>
              <a:rPr spc="-5" dirty="0" smtClean="0"/>
              <a:t>erminolog</a:t>
            </a:r>
            <a:r>
              <a:rPr dirty="0" smtClean="0"/>
              <a:t>y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78838" y="1607638"/>
            <a:ext cx="62357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Arial MT"/>
                <a:cs typeface="Arial MT"/>
              </a:rPr>
              <a:t>All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nodes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will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have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zero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more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child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nodes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or</a:t>
            </a:r>
            <a:r>
              <a:rPr sz="2000" spc="15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children</a:t>
            </a:r>
            <a:endParaRPr sz="2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79666" y="1969334"/>
            <a:ext cx="2330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12420" algn="l"/>
              </a:tabLst>
            </a:pPr>
            <a:r>
              <a:rPr sz="1800" dirty="0">
                <a:latin typeface="Arial MT"/>
                <a:cs typeface="Arial MT"/>
              </a:rPr>
              <a:t>–	I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has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three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children: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09338" y="1969334"/>
            <a:ext cx="1054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J,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K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838" y="2622579"/>
            <a:ext cx="7159625" cy="72644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spc="-5" dirty="0">
                <a:latin typeface="Arial MT"/>
                <a:cs typeface="Arial MT"/>
              </a:rPr>
              <a:t>For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all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nodes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other than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root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node, there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one parent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node</a:t>
            </a:r>
            <a:endParaRPr sz="2000">
              <a:latin typeface="Arial MT"/>
              <a:cs typeface="Arial MT"/>
            </a:endParaRPr>
          </a:p>
          <a:p>
            <a:pPr marL="113030">
              <a:lnSpc>
                <a:spcPct val="100000"/>
              </a:lnSpc>
              <a:spcBef>
                <a:spcPts val="455"/>
              </a:spcBef>
              <a:tabLst>
                <a:tab pos="412750" algn="l"/>
              </a:tabLst>
            </a:pPr>
            <a:r>
              <a:rPr sz="1800" dirty="0">
                <a:latin typeface="Arial MT"/>
                <a:cs typeface="Arial MT"/>
              </a:rPr>
              <a:t>–	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parent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4765" y="3483879"/>
            <a:ext cx="1719071" cy="2500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7854" y="436067"/>
            <a:ext cx="37001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 smtClean="0"/>
              <a:t>Terminolog</a:t>
            </a:r>
            <a:r>
              <a:rPr lang="en-US" spc="-55" dirty="0" smtClean="0"/>
              <a:t>y</a:t>
            </a:r>
            <a:endParaRPr spc="-55" dirty="0"/>
          </a:p>
        </p:txBody>
      </p:sp>
      <p:sp>
        <p:nvSpPr>
          <p:cNvPr id="4" name="object 4"/>
          <p:cNvSpPr txBox="1"/>
          <p:nvPr/>
        </p:nvSpPr>
        <p:spPr>
          <a:xfrm>
            <a:off x="878838" y="1552397"/>
            <a:ext cx="6938009" cy="755650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degree </a:t>
            </a:r>
            <a:r>
              <a:rPr sz="2000" spc="-5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5" dirty="0">
                <a:latin typeface="Arial MT"/>
                <a:cs typeface="Arial MT"/>
              </a:rPr>
              <a:t> node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defined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as 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number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of its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children:</a:t>
            </a:r>
            <a:endParaRPr sz="2000">
              <a:latin typeface="Arial MT"/>
              <a:cs typeface="Arial MT"/>
            </a:endParaRPr>
          </a:p>
          <a:p>
            <a:pPr marL="584200">
              <a:lnSpc>
                <a:spcPct val="100000"/>
              </a:lnSpc>
              <a:spcBef>
                <a:spcPts val="475"/>
              </a:spcBef>
            </a:pPr>
            <a:r>
              <a:rPr sz="2000" spc="-5" dirty="0">
                <a:latin typeface="Times New Roman"/>
                <a:cs typeface="Times New Roman"/>
              </a:rPr>
              <a:t>deg(</a:t>
            </a:r>
            <a:r>
              <a:rPr sz="2000" spc="-5" dirty="0">
                <a:latin typeface="Arial MT"/>
                <a:cs typeface="Arial MT"/>
              </a:rPr>
              <a:t>I</a:t>
            </a:r>
            <a:r>
              <a:rPr sz="2000" spc="-5" dirty="0">
                <a:latin typeface="Times New Roman"/>
                <a:cs typeface="Times New Roman"/>
              </a:rPr>
              <a:t>)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8" y="2725072"/>
            <a:ext cx="4542155" cy="72644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spc="-5" dirty="0">
                <a:latin typeface="Arial MT"/>
                <a:cs typeface="Arial MT"/>
              </a:rPr>
              <a:t>Nodes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with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same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parent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are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i="1" dirty="0">
                <a:latin typeface="Arial"/>
                <a:cs typeface="Arial"/>
              </a:rPr>
              <a:t>siblings</a:t>
            </a:r>
            <a:endParaRPr sz="2000">
              <a:latin typeface="Arial"/>
              <a:cs typeface="Arial"/>
            </a:endParaRPr>
          </a:p>
          <a:p>
            <a:pPr marL="126364">
              <a:lnSpc>
                <a:spcPct val="100000"/>
              </a:lnSpc>
              <a:spcBef>
                <a:spcPts val="455"/>
              </a:spcBef>
              <a:tabLst>
                <a:tab pos="456565" algn="l"/>
              </a:tabLst>
            </a:pPr>
            <a:r>
              <a:rPr sz="1800" dirty="0">
                <a:latin typeface="Arial MT"/>
                <a:cs typeface="Arial MT"/>
              </a:rPr>
              <a:t>–	J,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K,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siblings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4765" y="3483879"/>
            <a:ext cx="1719071" cy="25000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7855" y="436067"/>
            <a:ext cx="337819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 smtClean="0"/>
              <a:t>Terminolog</a:t>
            </a:r>
            <a:r>
              <a:rPr lang="en-US" spc="-55" dirty="0" smtClean="0"/>
              <a:t>y</a:t>
            </a:r>
            <a:endParaRPr spc="-5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4453" y="3114542"/>
            <a:ext cx="3816716" cy="28403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8838" y="1612594"/>
            <a:ext cx="565721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Arial MT"/>
                <a:cs typeface="Arial MT"/>
              </a:rPr>
              <a:t>Nodes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with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degree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zero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are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also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called </a:t>
            </a:r>
            <a:r>
              <a:rPr sz="2000" i="1" spc="-5" dirty="0">
                <a:solidFill>
                  <a:srgbClr val="0000FF"/>
                </a:solidFill>
                <a:latin typeface="Arial"/>
                <a:cs typeface="Arial"/>
              </a:rPr>
              <a:t>leaf</a:t>
            </a:r>
            <a:r>
              <a:rPr sz="2000" i="1" spc="-1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i="1" spc="-5" dirty="0">
                <a:solidFill>
                  <a:srgbClr val="0000FF"/>
                </a:solidFill>
                <a:latin typeface="Arial"/>
                <a:cs typeface="Arial"/>
              </a:rPr>
              <a:t>nodes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838" y="2362530"/>
            <a:ext cx="68668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Arial MT"/>
                <a:cs typeface="Arial MT"/>
              </a:rPr>
              <a:t>All other nodes are </a:t>
            </a:r>
            <a:r>
              <a:rPr sz="2000" dirty="0">
                <a:latin typeface="Arial MT"/>
                <a:cs typeface="Arial MT"/>
              </a:rPr>
              <a:t>said </a:t>
            </a:r>
            <a:r>
              <a:rPr sz="2000" spc="-5" dirty="0">
                <a:latin typeface="Arial MT"/>
                <a:cs typeface="Arial MT"/>
              </a:rPr>
              <a:t>to be </a:t>
            </a:r>
            <a:r>
              <a:rPr sz="2000" i="1" spc="-5" dirty="0">
                <a:latin typeface="Arial"/>
                <a:cs typeface="Arial"/>
              </a:rPr>
              <a:t>internal nodes</a:t>
            </a:r>
            <a:r>
              <a:rPr sz="2000" spc="-5" dirty="0">
                <a:latin typeface="Arial MT"/>
                <a:cs typeface="Arial MT"/>
              </a:rPr>
              <a:t>, that is, they are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internal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 the tree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78838" y="1607638"/>
            <a:ext cx="66084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Arial MT"/>
                <a:cs typeface="Arial MT"/>
              </a:rPr>
              <a:t>These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trees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are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equal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order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of 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children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ignored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8" y="1969334"/>
            <a:ext cx="19697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2265" algn="l"/>
              </a:tabLst>
            </a:pPr>
            <a:r>
              <a:rPr sz="1800" dirty="0">
                <a:latin typeface="Arial MT"/>
                <a:cs typeface="Arial MT"/>
              </a:rPr>
              <a:t>–	</a:t>
            </a:r>
            <a:r>
              <a:rPr sz="1800" i="1" spc="-5" dirty="0">
                <a:latin typeface="Arial"/>
                <a:cs typeface="Arial"/>
              </a:rPr>
              <a:t>unordered</a:t>
            </a:r>
            <a:r>
              <a:rPr sz="1800" i="1" spc="-65" dirty="0">
                <a:latin typeface="Arial"/>
                <a:cs typeface="Arial"/>
              </a:rPr>
              <a:t> </a:t>
            </a:r>
            <a:r>
              <a:rPr sz="1800" i="1" spc="-5" dirty="0">
                <a:latin typeface="Arial"/>
                <a:cs typeface="Arial"/>
              </a:rPr>
              <a:t>tree</a:t>
            </a:r>
            <a:r>
              <a:rPr sz="1800" spc="-5" dirty="0">
                <a:latin typeface="Arial MT"/>
                <a:cs typeface="Arial MT"/>
              </a:rPr>
              <a:t>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8" y="4068798"/>
            <a:ext cx="5849620" cy="105410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000" spc="-5" dirty="0">
                <a:latin typeface="Arial MT"/>
                <a:cs typeface="Arial MT"/>
              </a:rPr>
              <a:t>They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are</a:t>
            </a:r>
            <a:r>
              <a:rPr sz="2000" spc="-10" dirty="0">
                <a:latin typeface="Arial MT"/>
                <a:cs typeface="Arial MT"/>
              </a:rPr>
              <a:t> different </a:t>
            </a:r>
            <a:r>
              <a:rPr sz="2000" spc="-5" dirty="0">
                <a:latin typeface="Arial MT"/>
                <a:cs typeface="Arial MT"/>
              </a:rPr>
              <a:t>if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order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is </a:t>
            </a:r>
            <a:r>
              <a:rPr sz="2000" dirty="0">
                <a:latin typeface="Arial MT"/>
                <a:cs typeface="Arial MT"/>
              </a:rPr>
              <a:t>relevant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(</a:t>
            </a:r>
            <a:r>
              <a:rPr sz="2000" i="1" dirty="0">
                <a:latin typeface="Arial"/>
                <a:cs typeface="Arial"/>
              </a:rPr>
              <a:t>ordered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i="1" spc="-5" dirty="0">
                <a:latin typeface="Arial"/>
                <a:cs typeface="Arial"/>
              </a:rPr>
              <a:t>trees</a:t>
            </a:r>
            <a:r>
              <a:rPr sz="2000" spc="-5" dirty="0">
                <a:latin typeface="Arial MT"/>
                <a:cs typeface="Arial MT"/>
              </a:rPr>
              <a:t>)</a:t>
            </a:r>
            <a:endParaRPr sz="2000">
              <a:latin typeface="Arial MT"/>
              <a:cs typeface="Arial MT"/>
            </a:endParaRPr>
          </a:p>
          <a:p>
            <a:pPr marL="413384" indent="-300355">
              <a:lnSpc>
                <a:spcPct val="100000"/>
              </a:lnSpc>
              <a:spcBef>
                <a:spcPts val="450"/>
              </a:spcBef>
              <a:buChar char="–"/>
              <a:tabLst>
                <a:tab pos="412750" algn="l"/>
                <a:tab pos="413384" algn="l"/>
              </a:tabLst>
            </a:pPr>
            <a:r>
              <a:rPr sz="1800" spc="-20" dirty="0">
                <a:latin typeface="Arial MT"/>
                <a:cs typeface="Arial MT"/>
              </a:rPr>
              <a:t>We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will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usually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examine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ordered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trees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(linear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orders)</a:t>
            </a:r>
            <a:endParaRPr sz="1800">
              <a:latin typeface="Arial MT"/>
              <a:cs typeface="Arial MT"/>
            </a:endParaRPr>
          </a:p>
          <a:p>
            <a:pPr marL="413384" indent="-300355">
              <a:lnSpc>
                <a:spcPct val="100000"/>
              </a:lnSpc>
              <a:spcBef>
                <a:spcPts val="430"/>
              </a:spcBef>
              <a:buChar char="–"/>
              <a:tabLst>
                <a:tab pos="412750" algn="l"/>
                <a:tab pos="413384" algn="l"/>
              </a:tabLst>
            </a:pPr>
            <a:r>
              <a:rPr sz="1800" spc="-5" dirty="0">
                <a:latin typeface="Arial MT"/>
                <a:cs typeface="Arial MT"/>
              </a:rPr>
              <a:t>In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hierarchical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ordering,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order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not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relevant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9712" y="2526021"/>
            <a:ext cx="2316851" cy="137733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15225" y="2519927"/>
            <a:ext cx="2675645" cy="1389518"/>
          </a:xfrm>
          <a:prstGeom prst="rect">
            <a:avLst/>
          </a:prstGeom>
        </p:spPr>
      </p:pic>
      <p:sp>
        <p:nvSpPr>
          <p:cNvPr id="8" name="object 2"/>
          <p:cNvSpPr txBox="1">
            <a:spLocks/>
          </p:cNvSpPr>
          <p:nvPr/>
        </p:nvSpPr>
        <p:spPr>
          <a:xfrm>
            <a:off x="3318022" y="627041"/>
            <a:ext cx="337819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 MT"/>
                <a:ea typeface="+mj-ea"/>
                <a:cs typeface="Arial MT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kern="0" spc="-55" dirty="0" smtClean="0"/>
              <a:t>Terminology</a:t>
            </a:r>
            <a:endParaRPr lang="en-US" kern="0" spc="-5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7179" y="3425692"/>
            <a:ext cx="3816716" cy="28403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2744" y="1610562"/>
            <a:ext cx="750189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shape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rooted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tree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gives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natural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flow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from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i="1" dirty="0">
                <a:latin typeface="Arial"/>
                <a:cs typeface="Arial"/>
              </a:rPr>
              <a:t>root</a:t>
            </a:r>
            <a:r>
              <a:rPr sz="2400" i="1" spc="-25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node</a:t>
            </a:r>
            <a:r>
              <a:rPr sz="2400" spc="-5" dirty="0">
                <a:latin typeface="Arial MT"/>
                <a:cs typeface="Arial MT"/>
              </a:rPr>
              <a:t>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or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just </a:t>
            </a:r>
            <a:r>
              <a:rPr sz="2400" i="1" dirty="0">
                <a:latin typeface="Arial"/>
                <a:cs typeface="Arial"/>
              </a:rPr>
              <a:t>root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7854" y="436067"/>
            <a:ext cx="33191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 smtClean="0"/>
              <a:t>Terminolog</a:t>
            </a:r>
            <a:r>
              <a:rPr lang="en-US" spc="-55" dirty="0" smtClean="0"/>
              <a:t>y</a:t>
            </a:r>
            <a:endParaRPr spc="-5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96033" y="3125984"/>
            <a:ext cx="3816716" cy="284036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22045" y="1531229"/>
            <a:ext cx="4157345" cy="126809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0"/>
              </a:spcBef>
            </a:pPr>
            <a:r>
              <a:rPr sz="2400" dirty="0">
                <a:latin typeface="Arial MT"/>
                <a:cs typeface="Arial MT"/>
              </a:rPr>
              <a:t>A</a:t>
            </a:r>
            <a:r>
              <a:rPr sz="2400" spc="-1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path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sequence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nodes</a:t>
            </a:r>
            <a:endParaRPr sz="2400">
              <a:latin typeface="Arial MT"/>
              <a:cs typeface="Arial MT"/>
            </a:endParaRPr>
          </a:p>
          <a:p>
            <a:pPr marL="571500">
              <a:lnSpc>
                <a:spcPct val="100000"/>
              </a:lnSpc>
              <a:spcBef>
                <a:spcPts val="490"/>
              </a:spcBef>
            </a:pPr>
            <a:r>
              <a:rPr sz="2000" spc="-5" dirty="0">
                <a:latin typeface="Times New Roman"/>
                <a:cs typeface="Times New Roman"/>
              </a:rPr>
              <a:t>(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1950" spc="-7" baseline="-32051" dirty="0">
                <a:latin typeface="Times New Roman"/>
                <a:cs typeface="Times New Roman"/>
              </a:rPr>
              <a:t>0</a:t>
            </a:r>
            <a:r>
              <a:rPr sz="2000" spc="-5" dirty="0">
                <a:latin typeface="Times New Roman"/>
                <a:cs typeface="Times New Roman"/>
              </a:rPr>
              <a:t>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1950" spc="-7" baseline="-32051" dirty="0">
                <a:latin typeface="Times New Roman"/>
                <a:cs typeface="Times New Roman"/>
              </a:rPr>
              <a:t>1</a:t>
            </a:r>
            <a:r>
              <a:rPr sz="2000" spc="-5" dirty="0">
                <a:latin typeface="Times New Roman"/>
                <a:cs typeface="Times New Roman"/>
              </a:rPr>
              <a:t>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...,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i="1" spc="-5" dirty="0">
                <a:latin typeface="Times New Roman"/>
                <a:cs typeface="Times New Roman"/>
              </a:rPr>
              <a:t>a</a:t>
            </a:r>
            <a:r>
              <a:rPr sz="1950" i="1" spc="-7" baseline="-32051" dirty="0">
                <a:latin typeface="Times New Roman"/>
                <a:cs typeface="Times New Roman"/>
              </a:rPr>
              <a:t>n</a:t>
            </a:r>
            <a:r>
              <a:rPr sz="2000" spc="-5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545"/>
              </a:spcBef>
            </a:pPr>
            <a:r>
              <a:rPr sz="2400" spc="-5" dirty="0">
                <a:latin typeface="Arial MT"/>
                <a:cs typeface="Arial MT"/>
              </a:rPr>
              <a:t>where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baseline="-31250" dirty="0">
                <a:latin typeface="Times New Roman"/>
                <a:cs typeface="Times New Roman"/>
              </a:rPr>
              <a:t>k</a:t>
            </a:r>
            <a:r>
              <a:rPr sz="2400" i="1" spc="-15" baseline="-31250" dirty="0">
                <a:latin typeface="Times New Roman"/>
                <a:cs typeface="Times New Roman"/>
              </a:rPr>
              <a:t> </a:t>
            </a:r>
            <a:r>
              <a:rPr sz="2400" baseline="-31250" dirty="0">
                <a:latin typeface="Times New Roman"/>
                <a:cs typeface="Times New Roman"/>
              </a:rPr>
              <a:t>+</a:t>
            </a:r>
            <a:r>
              <a:rPr sz="2400" spc="-22" baseline="-31250" dirty="0">
                <a:latin typeface="Times New Roman"/>
                <a:cs typeface="Times New Roman"/>
              </a:rPr>
              <a:t> </a:t>
            </a:r>
            <a:r>
              <a:rPr sz="2400" baseline="-31250" dirty="0">
                <a:latin typeface="Times New Roman"/>
                <a:cs typeface="Times New Roman"/>
              </a:rPr>
              <a:t>1</a:t>
            </a:r>
            <a:r>
              <a:rPr sz="2400" spc="585" baseline="-312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child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baseline="-31250" dirty="0">
                <a:latin typeface="Times New Roman"/>
                <a:cs typeface="Times New Roman"/>
              </a:rPr>
              <a:t>k</a:t>
            </a:r>
            <a:r>
              <a:rPr sz="2400" i="1" spc="-15" baseline="-3125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47445" y="3308493"/>
            <a:ext cx="3583940" cy="16598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length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path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35" dirty="0">
                <a:latin typeface="Arial MT"/>
                <a:cs typeface="Arial MT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n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650">
              <a:latin typeface="Times New Roman"/>
              <a:cs typeface="Times New Roman"/>
            </a:endParaRPr>
          </a:p>
          <a:p>
            <a:pPr marL="12700" marR="485140">
              <a:lnSpc>
                <a:spcPct val="100000"/>
              </a:lnSpc>
            </a:pPr>
            <a:r>
              <a:rPr sz="2400" i="1" spc="-5" dirty="0">
                <a:latin typeface="Arial"/>
                <a:cs typeface="Arial"/>
              </a:rPr>
              <a:t>E</a:t>
            </a:r>
            <a:r>
              <a:rPr sz="2400" spc="-5" dirty="0">
                <a:latin typeface="Arial MT"/>
                <a:cs typeface="Arial MT"/>
              </a:rPr>
              <a:t>.</a:t>
            </a:r>
            <a:r>
              <a:rPr sz="2400" i="1" spc="-5" dirty="0">
                <a:latin typeface="Arial"/>
                <a:cs typeface="Arial"/>
              </a:rPr>
              <a:t>g</a:t>
            </a:r>
            <a:r>
              <a:rPr sz="2400" spc="-5" dirty="0">
                <a:latin typeface="Arial MT"/>
                <a:cs typeface="Arial MT"/>
              </a:rPr>
              <a:t>.,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path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(B,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E,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G)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has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length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7854" y="436067"/>
            <a:ext cx="33953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 smtClean="0"/>
              <a:t>Terminolog</a:t>
            </a:r>
            <a:r>
              <a:rPr lang="en-US" spc="-55" dirty="0" smtClean="0"/>
              <a:t>y</a:t>
            </a:r>
            <a:endParaRPr spc="-55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00454" y="3185854"/>
            <a:ext cx="3816716" cy="28404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8838" y="1612594"/>
            <a:ext cx="71989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Arial MT"/>
                <a:cs typeface="Arial MT"/>
              </a:rPr>
              <a:t>For each node in </a:t>
            </a:r>
            <a:r>
              <a:rPr sz="2000" dirty="0">
                <a:latin typeface="Arial MT"/>
                <a:cs typeface="Arial MT"/>
              </a:rPr>
              <a:t>a </a:t>
            </a:r>
            <a:r>
              <a:rPr sz="2000" spc="-5" dirty="0">
                <a:latin typeface="Arial MT"/>
                <a:cs typeface="Arial MT"/>
              </a:rPr>
              <a:t>tree, there exists </a:t>
            </a:r>
            <a:r>
              <a:rPr sz="2000" dirty="0">
                <a:latin typeface="Arial MT"/>
                <a:cs typeface="Arial MT"/>
              </a:rPr>
              <a:t>a </a:t>
            </a:r>
            <a:r>
              <a:rPr sz="2000" spc="-5" dirty="0">
                <a:latin typeface="Arial MT"/>
                <a:cs typeface="Arial MT"/>
              </a:rPr>
              <a:t>unique path from the </a:t>
            </a:r>
            <a:r>
              <a:rPr sz="2000" dirty="0">
                <a:latin typeface="Arial MT"/>
                <a:cs typeface="Arial MT"/>
              </a:rPr>
              <a:t>root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node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 that node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8838" y="2604112"/>
            <a:ext cx="5897245" cy="105410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length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path 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30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depth </a:t>
            </a:r>
            <a:r>
              <a:rPr sz="2000" spc="-5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 node,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e</a:t>
            </a:r>
            <a:r>
              <a:rPr sz="2000" spc="-5" dirty="0">
                <a:latin typeface="Arial MT"/>
                <a:cs typeface="Arial MT"/>
              </a:rPr>
              <a:t>.</a:t>
            </a:r>
            <a:r>
              <a:rPr sz="2000" i="1" spc="-5" dirty="0">
                <a:latin typeface="Arial"/>
                <a:cs typeface="Arial"/>
              </a:rPr>
              <a:t>g</a:t>
            </a:r>
            <a:r>
              <a:rPr sz="2000" spc="-5" dirty="0">
                <a:latin typeface="Arial MT"/>
                <a:cs typeface="Arial MT"/>
              </a:rPr>
              <a:t>.,</a:t>
            </a:r>
            <a:endParaRPr sz="2000">
              <a:latin typeface="Arial MT"/>
              <a:cs typeface="Arial MT"/>
            </a:endParaRPr>
          </a:p>
          <a:p>
            <a:pPr marL="413384" indent="-300355">
              <a:lnSpc>
                <a:spcPct val="100000"/>
              </a:lnSpc>
              <a:spcBef>
                <a:spcPts val="450"/>
              </a:spcBef>
              <a:buChar char="–"/>
              <a:tabLst>
                <a:tab pos="412750" algn="l"/>
                <a:tab pos="413384" algn="l"/>
              </a:tabLst>
            </a:pPr>
            <a:r>
              <a:rPr sz="1800" dirty="0">
                <a:latin typeface="Arial MT"/>
                <a:cs typeface="Arial MT"/>
              </a:rPr>
              <a:t>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has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depth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2</a:t>
            </a:r>
            <a:endParaRPr sz="1800">
              <a:latin typeface="Arial MT"/>
              <a:cs typeface="Arial MT"/>
            </a:endParaRPr>
          </a:p>
          <a:p>
            <a:pPr marL="413384" indent="-300355">
              <a:lnSpc>
                <a:spcPct val="100000"/>
              </a:lnSpc>
              <a:spcBef>
                <a:spcPts val="434"/>
              </a:spcBef>
              <a:buChar char="–"/>
              <a:tabLst>
                <a:tab pos="412750" algn="l"/>
                <a:tab pos="413384" algn="l"/>
              </a:tabLst>
            </a:pPr>
            <a:r>
              <a:rPr sz="1800" dirty="0">
                <a:latin typeface="Arial MT"/>
                <a:cs typeface="Arial MT"/>
              </a:rPr>
              <a:t>L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has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depth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3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7854" y="436067"/>
            <a:ext cx="32429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 smtClean="0"/>
              <a:t>Terminolog</a:t>
            </a:r>
            <a:r>
              <a:rPr lang="en-US" spc="-55" dirty="0" smtClean="0"/>
              <a:t>y</a:t>
            </a:r>
            <a:endParaRPr spc="-55" dirty="0"/>
          </a:p>
        </p:txBody>
      </p:sp>
      <p:sp>
        <p:nvSpPr>
          <p:cNvPr id="4" name="object 4"/>
          <p:cNvSpPr txBox="1"/>
          <p:nvPr/>
        </p:nvSpPr>
        <p:spPr>
          <a:xfrm>
            <a:off x="878838" y="1610562"/>
            <a:ext cx="755777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The </a:t>
            </a:r>
            <a:r>
              <a:rPr sz="2400" i="1" spc="-5" dirty="0">
                <a:latin typeface="Arial"/>
                <a:cs typeface="Arial"/>
              </a:rPr>
              <a:t>height </a:t>
            </a:r>
            <a:r>
              <a:rPr sz="2400" spc="-5" dirty="0">
                <a:latin typeface="Arial MT"/>
                <a:cs typeface="Arial MT"/>
              </a:rPr>
              <a:t>of </a:t>
            </a:r>
            <a:r>
              <a:rPr sz="2400" dirty="0">
                <a:latin typeface="Arial MT"/>
                <a:cs typeface="Arial MT"/>
              </a:rPr>
              <a:t>a </a:t>
            </a:r>
            <a:r>
              <a:rPr sz="2400" spc="-5" dirty="0">
                <a:latin typeface="Arial MT"/>
                <a:cs typeface="Arial MT"/>
              </a:rPr>
              <a:t>tree is defined as the </a:t>
            </a:r>
            <a:r>
              <a:rPr sz="2400" dirty="0">
                <a:latin typeface="Arial MT"/>
                <a:cs typeface="Arial MT"/>
              </a:rPr>
              <a:t>maximum </a:t>
            </a:r>
            <a:r>
              <a:rPr sz="2400" spc="-5" dirty="0">
                <a:latin typeface="Arial MT"/>
                <a:cs typeface="Arial MT"/>
              </a:rPr>
              <a:t>depth of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node within the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tree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8" y="2802687"/>
            <a:ext cx="7538084" cy="217360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height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tree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with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one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node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0</a:t>
            </a:r>
            <a:endParaRPr sz="2400">
              <a:latin typeface="Arial MT"/>
              <a:cs typeface="Arial MT"/>
            </a:endParaRPr>
          </a:p>
          <a:p>
            <a:pPr marL="126364">
              <a:lnSpc>
                <a:spcPct val="100000"/>
              </a:lnSpc>
              <a:spcBef>
                <a:spcPts val="489"/>
              </a:spcBef>
              <a:tabLst>
                <a:tab pos="456565" algn="l"/>
              </a:tabLst>
            </a:pPr>
            <a:r>
              <a:rPr sz="2000" dirty="0">
                <a:latin typeface="Arial MT"/>
                <a:cs typeface="Arial MT"/>
              </a:rPr>
              <a:t>–	Just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root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node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200">
              <a:latin typeface="Arial MT"/>
              <a:cs typeface="Arial MT"/>
            </a:endParaRPr>
          </a:p>
          <a:p>
            <a:pPr marL="12700" marR="5080">
              <a:lnSpc>
                <a:spcPct val="119200"/>
              </a:lnSpc>
              <a:tabLst>
                <a:tab pos="913765" algn="l"/>
              </a:tabLst>
            </a:pPr>
            <a:r>
              <a:rPr sz="2400" spc="-5" dirty="0">
                <a:latin typeface="Arial MT"/>
                <a:cs typeface="Arial MT"/>
              </a:rPr>
              <a:t>For </a:t>
            </a:r>
            <a:r>
              <a:rPr sz="2400" dirty="0">
                <a:latin typeface="Arial MT"/>
                <a:cs typeface="Arial MT"/>
              </a:rPr>
              <a:t>convenience, </a:t>
            </a:r>
            <a:r>
              <a:rPr sz="2400" spc="-5" dirty="0">
                <a:latin typeface="Arial MT"/>
                <a:cs typeface="Arial MT"/>
              </a:rPr>
              <a:t>we define the height of the empty tree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	</a:t>
            </a:r>
            <a:r>
              <a:rPr sz="2400" dirty="0">
                <a:latin typeface="Times New Roman"/>
                <a:cs typeface="Times New Roman"/>
              </a:rPr>
              <a:t>–1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7855" y="436067"/>
            <a:ext cx="38525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490" dirty="0" smtClean="0"/>
              <a:t>T</a:t>
            </a:r>
            <a:r>
              <a:rPr spc="-5" dirty="0" smtClean="0"/>
              <a:t>erminolog</a:t>
            </a:r>
            <a:r>
              <a:rPr lang="en-US" spc="-5" dirty="0" smtClean="0"/>
              <a:t>y</a:t>
            </a:r>
            <a:r>
              <a:rPr spc="-5" dirty="0" smtClean="0"/>
              <a:t>  </a:t>
            </a:r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676400"/>
            <a:ext cx="7619999" cy="49529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387" y="347593"/>
            <a:ext cx="304761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 smtClean="0"/>
              <a:t>Terminolog</a:t>
            </a:r>
            <a:r>
              <a:rPr lang="en-US" spc="-55" dirty="0" smtClean="0"/>
              <a:t>y</a:t>
            </a:r>
            <a:endParaRPr spc="-55" dirty="0"/>
          </a:p>
        </p:txBody>
      </p:sp>
      <p:sp>
        <p:nvSpPr>
          <p:cNvPr id="4" name="object 4"/>
          <p:cNvSpPr txBox="1"/>
          <p:nvPr/>
        </p:nvSpPr>
        <p:spPr>
          <a:xfrm>
            <a:off x="878838" y="1531005"/>
            <a:ext cx="5100320" cy="120459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spc="-5" dirty="0">
                <a:latin typeface="Arial MT"/>
                <a:cs typeface="Arial MT"/>
              </a:rPr>
              <a:t>If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path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exists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from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node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a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 MT"/>
                <a:cs typeface="Arial MT"/>
              </a:rPr>
              <a:t>to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node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Arial MT"/>
                <a:cs typeface="Arial MT"/>
              </a:rPr>
              <a:t>:</a:t>
            </a:r>
          </a:p>
          <a:p>
            <a:pPr marL="413384" indent="-301625">
              <a:lnSpc>
                <a:spcPct val="100000"/>
              </a:lnSpc>
              <a:spcBef>
                <a:spcPts val="515"/>
              </a:spcBef>
              <a:buFont typeface="Arial"/>
              <a:buChar char="–"/>
              <a:tabLst>
                <a:tab pos="412750" algn="l"/>
                <a:tab pos="413384" algn="l"/>
              </a:tabLst>
            </a:pPr>
            <a:r>
              <a:rPr sz="2000" i="1" dirty="0">
                <a:latin typeface="Times New Roman"/>
                <a:cs typeface="Times New Roman"/>
              </a:rPr>
              <a:t>a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 MT"/>
                <a:cs typeface="Arial MT"/>
              </a:rPr>
              <a:t>is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an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ancestor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of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b</a:t>
            </a:r>
            <a:endParaRPr sz="2000" dirty="0">
              <a:latin typeface="Times New Roman"/>
              <a:cs typeface="Times New Roman"/>
            </a:endParaRPr>
          </a:p>
          <a:p>
            <a:pPr marL="413384" indent="-301625">
              <a:lnSpc>
                <a:spcPct val="100000"/>
              </a:lnSpc>
              <a:spcBef>
                <a:spcPts val="480"/>
              </a:spcBef>
              <a:buFont typeface="Arial"/>
              <a:buChar char="–"/>
              <a:tabLst>
                <a:tab pos="412750" algn="l"/>
                <a:tab pos="413384" algn="l"/>
              </a:tabLst>
            </a:pPr>
            <a:r>
              <a:rPr sz="2000" i="1" dirty="0">
                <a:latin typeface="Times New Roman"/>
                <a:cs typeface="Times New Roman"/>
              </a:rPr>
              <a:t>b</a:t>
            </a:r>
            <a:r>
              <a:rPr sz="2000" i="1" spc="-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 MT"/>
                <a:cs typeface="Arial MT"/>
              </a:rPr>
              <a:t>is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descendent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of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a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8" y="3235752"/>
            <a:ext cx="7303770" cy="1657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Thus, </a:t>
            </a:r>
            <a:r>
              <a:rPr sz="2400" dirty="0">
                <a:latin typeface="Arial MT"/>
                <a:cs typeface="Arial MT"/>
              </a:rPr>
              <a:t>a </a:t>
            </a:r>
            <a:r>
              <a:rPr sz="2400" spc="-5" dirty="0">
                <a:latin typeface="Arial MT"/>
                <a:cs typeface="Arial MT"/>
              </a:rPr>
              <a:t>node is both an ancestor and </a:t>
            </a:r>
            <a:r>
              <a:rPr sz="2400" dirty="0">
                <a:latin typeface="Arial MT"/>
                <a:cs typeface="Arial MT"/>
              </a:rPr>
              <a:t>a </a:t>
            </a:r>
            <a:r>
              <a:rPr sz="2400" spc="-5" dirty="0">
                <a:latin typeface="Arial MT"/>
                <a:cs typeface="Arial MT"/>
              </a:rPr>
              <a:t>descendant of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itself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root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node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ancestor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all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nodes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57855" y="436067"/>
            <a:ext cx="366013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 smtClean="0"/>
              <a:t>Terminolog</a:t>
            </a:r>
            <a:r>
              <a:rPr lang="en-US" spc="-55" dirty="0" smtClean="0"/>
              <a:t>y</a:t>
            </a:r>
            <a:endParaRPr spc="-55" dirty="0"/>
          </a:p>
        </p:txBody>
      </p:sp>
      <p:sp>
        <p:nvSpPr>
          <p:cNvPr id="4" name="object 4"/>
          <p:cNvSpPr txBox="1"/>
          <p:nvPr/>
        </p:nvSpPr>
        <p:spPr>
          <a:xfrm>
            <a:off x="878838" y="1612594"/>
            <a:ext cx="59391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descendants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node </a:t>
            </a:r>
            <a:r>
              <a:rPr sz="2000" dirty="0">
                <a:latin typeface="Arial MT"/>
                <a:cs typeface="Arial MT"/>
              </a:rPr>
              <a:t>B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are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C, D,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E,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114" dirty="0">
                <a:latin typeface="Arial MT"/>
                <a:cs typeface="Arial MT"/>
              </a:rPr>
              <a:t>F,</a:t>
            </a:r>
            <a:r>
              <a:rPr sz="2000" spc="-5" dirty="0">
                <a:latin typeface="Arial MT"/>
                <a:cs typeface="Arial MT"/>
              </a:rPr>
              <a:t> and</a:t>
            </a:r>
            <a:r>
              <a:rPr sz="2000" spc="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G: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78838" y="3807712"/>
            <a:ext cx="415671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5" dirty="0">
                <a:latin typeface="Arial MT"/>
                <a:cs typeface="Arial MT"/>
              </a:rPr>
              <a:t>The ancestors of node </a:t>
            </a:r>
            <a:r>
              <a:rPr sz="2000" dirty="0">
                <a:latin typeface="Arial MT"/>
                <a:cs typeface="Arial MT"/>
              </a:rPr>
              <a:t>I </a:t>
            </a:r>
            <a:r>
              <a:rPr sz="2000" spc="-5" dirty="0">
                <a:latin typeface="Arial MT"/>
                <a:cs typeface="Arial MT"/>
              </a:rPr>
              <a:t>are I, H, and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A: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7844" y="4238709"/>
            <a:ext cx="2328735" cy="170010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87844" y="2023958"/>
            <a:ext cx="2328735" cy="17002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1521" y="436067"/>
            <a:ext cx="741387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Summarized </a:t>
            </a:r>
            <a:r>
              <a:rPr spc="-5" dirty="0"/>
              <a:t> </a:t>
            </a:r>
            <a:r>
              <a:rPr spc="-490" dirty="0"/>
              <a:t>T</a:t>
            </a:r>
            <a:r>
              <a:rPr spc="-5" dirty="0"/>
              <a:t>erminologies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600200"/>
            <a:ext cx="8360657" cy="502919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56382" y="436067"/>
            <a:ext cx="448741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pc="-250" dirty="0"/>
              <a:t> </a:t>
            </a:r>
            <a:r>
              <a:rPr spc="-10" dirty="0"/>
              <a:t>Binary  </a:t>
            </a:r>
            <a:r>
              <a:rPr spc="-45" dirty="0"/>
              <a:t>Tree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8" y="1704975"/>
            <a:ext cx="6911340" cy="184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binary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tree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restriction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where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each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node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has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exactly</a:t>
            </a:r>
            <a:r>
              <a:rPr sz="2000" spc="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two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children:</a:t>
            </a:r>
            <a:endParaRPr sz="2000">
              <a:latin typeface="Arial MT"/>
              <a:cs typeface="Arial MT"/>
            </a:endParaRPr>
          </a:p>
          <a:p>
            <a:pPr marL="412750" marR="2784475" indent="-300355">
              <a:lnSpc>
                <a:spcPct val="100000"/>
              </a:lnSpc>
              <a:spcBef>
                <a:spcPts val="440"/>
              </a:spcBef>
              <a:buChar char="–"/>
              <a:tabLst>
                <a:tab pos="412750" algn="l"/>
                <a:tab pos="413384" algn="l"/>
              </a:tabLst>
            </a:pPr>
            <a:r>
              <a:rPr sz="1800" spc="-5" dirty="0">
                <a:latin typeface="Arial MT"/>
                <a:cs typeface="Arial MT"/>
              </a:rPr>
              <a:t>Each </a:t>
            </a:r>
            <a:r>
              <a:rPr sz="1800" dirty="0">
                <a:latin typeface="Arial MT"/>
                <a:cs typeface="Arial MT"/>
              </a:rPr>
              <a:t>child </a:t>
            </a:r>
            <a:r>
              <a:rPr sz="1800" spc="-5" dirty="0">
                <a:latin typeface="Arial MT"/>
                <a:cs typeface="Arial MT"/>
              </a:rPr>
              <a:t>is either empty or another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binary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tree</a:t>
            </a:r>
            <a:endParaRPr sz="1800">
              <a:latin typeface="Arial MT"/>
              <a:cs typeface="Arial MT"/>
            </a:endParaRPr>
          </a:p>
          <a:p>
            <a:pPr marL="412750" marR="2823210" indent="-300355">
              <a:lnSpc>
                <a:spcPct val="100000"/>
              </a:lnSpc>
              <a:spcBef>
                <a:spcPts val="434"/>
              </a:spcBef>
              <a:buChar char="–"/>
              <a:tabLst>
                <a:tab pos="412750" algn="l"/>
                <a:tab pos="413384" algn="l"/>
              </a:tabLst>
            </a:pPr>
            <a:r>
              <a:rPr sz="1800" spc="-5" dirty="0">
                <a:latin typeface="Arial MT"/>
                <a:cs typeface="Arial MT"/>
              </a:rPr>
              <a:t>This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restriction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allows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label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children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i="1" spc="-5" dirty="0">
                <a:latin typeface="Arial"/>
                <a:cs typeface="Arial"/>
              </a:rPr>
              <a:t>left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spc="-5" dirty="0">
                <a:latin typeface="Arial MT"/>
                <a:cs typeface="Arial MT"/>
              </a:rPr>
              <a:t>and </a:t>
            </a:r>
            <a:r>
              <a:rPr sz="1800" i="1" dirty="0">
                <a:latin typeface="Arial"/>
                <a:cs typeface="Arial"/>
              </a:rPr>
              <a:t>right</a:t>
            </a:r>
            <a:r>
              <a:rPr sz="1800" i="1" spc="-1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subtrees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42506" y="2869224"/>
            <a:ext cx="2385644" cy="16228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8716" y="436067"/>
            <a:ext cx="5083684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 smtClean="0"/>
              <a:t>Binary</a:t>
            </a:r>
            <a:r>
              <a:rPr lang="en-US" spc="-10" dirty="0" smtClean="0"/>
              <a:t> </a:t>
            </a:r>
            <a:r>
              <a:rPr lang="en-US" spc="-245" dirty="0"/>
              <a:t>Sub-trees</a:t>
            </a:r>
            <a:r>
              <a:rPr lang="en-US" dirty="0"/>
              <a:t/>
            </a:r>
            <a:br>
              <a:rPr lang="en-US" dirty="0"/>
            </a:b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878838" y="1173610"/>
            <a:ext cx="45885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We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will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also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refer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two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sub-trees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9666" y="1480188"/>
            <a:ext cx="3082290" cy="6845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535"/>
              </a:spcBef>
              <a:buChar char="–"/>
              <a:tabLst>
                <a:tab pos="312420" algn="l"/>
                <a:tab pos="313055" algn="l"/>
              </a:tabLst>
            </a:pP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FF0000"/>
                </a:solidFill>
                <a:latin typeface="Arial MT"/>
                <a:cs typeface="Arial MT"/>
              </a:rPr>
              <a:t>left-hand</a:t>
            </a:r>
            <a:r>
              <a:rPr sz="1800" spc="-30" dirty="0">
                <a:solidFill>
                  <a:srgbClr val="FF0000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FF0000"/>
                </a:solidFill>
                <a:latin typeface="Arial MT"/>
                <a:cs typeface="Arial MT"/>
              </a:rPr>
              <a:t>sub-tree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and</a:t>
            </a:r>
            <a:endParaRPr sz="1800">
              <a:latin typeface="Arial MT"/>
              <a:cs typeface="Arial MT"/>
            </a:endParaRPr>
          </a:p>
          <a:p>
            <a:pPr marL="312420" indent="-300355">
              <a:lnSpc>
                <a:spcPct val="100000"/>
              </a:lnSpc>
              <a:spcBef>
                <a:spcPts val="430"/>
              </a:spcBef>
              <a:buChar char="–"/>
              <a:tabLst>
                <a:tab pos="312420" algn="l"/>
                <a:tab pos="313055" algn="l"/>
              </a:tabLst>
            </a:pPr>
            <a:r>
              <a:rPr sz="1800" spc="-5" dirty="0">
                <a:solidFill>
                  <a:srgbClr val="4AABC5"/>
                </a:solidFill>
                <a:latin typeface="Arial MT"/>
                <a:cs typeface="Arial MT"/>
              </a:rPr>
              <a:t>The</a:t>
            </a:r>
            <a:r>
              <a:rPr sz="1800" spc="-35" dirty="0">
                <a:solidFill>
                  <a:srgbClr val="4AABC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AABC5"/>
                </a:solidFill>
                <a:latin typeface="Arial MT"/>
                <a:cs typeface="Arial MT"/>
              </a:rPr>
              <a:t>right-hand</a:t>
            </a:r>
            <a:r>
              <a:rPr sz="1800" spc="-35" dirty="0">
                <a:solidFill>
                  <a:srgbClr val="4AABC5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AABC5"/>
                </a:solidFill>
                <a:latin typeface="Arial MT"/>
                <a:cs typeface="Arial MT"/>
              </a:rPr>
              <a:t>sub-tree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6605" y="2230106"/>
            <a:ext cx="3255014" cy="153088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8838" y="430677"/>
            <a:ext cx="7807962" cy="10746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5255" marR="57277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Sample</a:t>
            </a:r>
            <a:r>
              <a:rPr spc="-105" dirty="0"/>
              <a:t> </a:t>
            </a:r>
            <a:r>
              <a:rPr spc="-10" dirty="0"/>
              <a:t>Binary </a:t>
            </a:r>
            <a:r>
              <a:rPr spc="-1205" dirty="0"/>
              <a:t> </a:t>
            </a:r>
            <a:r>
              <a:rPr spc="-35" dirty="0"/>
              <a:t>Trees</a:t>
            </a: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sz="2000" spc="-5" dirty="0"/>
              <a:t>Sample</a:t>
            </a:r>
            <a:r>
              <a:rPr sz="2000" spc="-20" dirty="0"/>
              <a:t> </a:t>
            </a:r>
            <a:r>
              <a:rPr sz="2000" dirty="0"/>
              <a:t>variations</a:t>
            </a:r>
            <a:r>
              <a:rPr sz="2000" spc="-15" dirty="0"/>
              <a:t> </a:t>
            </a:r>
            <a:r>
              <a:rPr sz="2000" spc="-5" dirty="0"/>
              <a:t>on</a:t>
            </a:r>
            <a:r>
              <a:rPr sz="2000" spc="-15" dirty="0"/>
              <a:t> </a:t>
            </a:r>
            <a:r>
              <a:rPr sz="2000" spc="-5" dirty="0"/>
              <a:t>binary</a:t>
            </a:r>
            <a:r>
              <a:rPr sz="2000" spc="-15" dirty="0"/>
              <a:t> </a:t>
            </a:r>
            <a:r>
              <a:rPr sz="2000" spc="-5" dirty="0"/>
              <a:t>trees</a:t>
            </a:r>
            <a:r>
              <a:rPr sz="2000" spc="-15" dirty="0"/>
              <a:t> </a:t>
            </a:r>
            <a:r>
              <a:rPr sz="2000" spc="-5" dirty="0"/>
              <a:t>with</a:t>
            </a:r>
            <a:r>
              <a:rPr sz="2000" spc="-15" dirty="0"/>
              <a:t> </a:t>
            </a:r>
            <a:r>
              <a:rPr sz="2000" spc="-5" dirty="0"/>
              <a:t>five</a:t>
            </a:r>
            <a:r>
              <a:rPr sz="2000" spc="-15" dirty="0"/>
              <a:t> </a:t>
            </a:r>
            <a:r>
              <a:rPr sz="2000" spc="-5" dirty="0"/>
              <a:t>nodes:</a:t>
            </a:r>
            <a:endParaRPr sz="20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2064" y="1829107"/>
            <a:ext cx="4525338" cy="350149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1789" y="436067"/>
            <a:ext cx="565061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Definition</a:t>
            </a:r>
            <a:r>
              <a:rPr spc="-100" dirty="0"/>
              <a:t> </a:t>
            </a:r>
            <a:r>
              <a:rPr spc="-5" dirty="0"/>
              <a:t>(Full </a:t>
            </a:r>
            <a:r>
              <a:rPr spc="-1210" dirty="0"/>
              <a:t> </a:t>
            </a:r>
            <a:r>
              <a:rPr spc="-5" dirty="0"/>
              <a:t>Node)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78838" y="1688794"/>
            <a:ext cx="767588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A </a:t>
            </a:r>
            <a:r>
              <a:rPr sz="2000" i="1" spc="-5" dirty="0">
                <a:latin typeface="Arial"/>
                <a:cs typeface="Arial"/>
              </a:rPr>
              <a:t>full </a:t>
            </a:r>
            <a:r>
              <a:rPr sz="2000" spc="-5" dirty="0">
                <a:latin typeface="Arial MT"/>
                <a:cs typeface="Arial MT"/>
              </a:rPr>
              <a:t>node is </a:t>
            </a:r>
            <a:r>
              <a:rPr sz="2000" dirty="0">
                <a:latin typeface="Arial MT"/>
                <a:cs typeface="Arial MT"/>
              </a:rPr>
              <a:t>a </a:t>
            </a:r>
            <a:r>
              <a:rPr sz="2000" spc="-5" dirty="0">
                <a:latin typeface="Arial MT"/>
                <a:cs typeface="Arial MT"/>
              </a:rPr>
              <a:t>node where both the left and </a:t>
            </a:r>
            <a:r>
              <a:rPr sz="2000" dirty="0">
                <a:latin typeface="Arial MT"/>
                <a:cs typeface="Arial MT"/>
              </a:rPr>
              <a:t>right sub-trees </a:t>
            </a:r>
            <a:r>
              <a:rPr sz="2000" spc="-5" dirty="0">
                <a:latin typeface="Arial MT"/>
                <a:cs typeface="Arial MT"/>
              </a:rPr>
              <a:t>are non- </a:t>
            </a:r>
            <a:r>
              <a:rPr sz="2000" spc="-54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empty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trees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8" y="4718334"/>
            <a:ext cx="1688464" cy="72517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000" spc="-5" dirty="0">
                <a:latin typeface="Arial MT"/>
                <a:cs typeface="Arial MT"/>
              </a:rPr>
              <a:t>Legend:</a:t>
            </a:r>
            <a:endParaRPr sz="2000">
              <a:latin typeface="Arial MT"/>
              <a:cs typeface="Arial MT"/>
            </a:endParaRPr>
          </a:p>
          <a:p>
            <a:pPr marL="698500">
              <a:lnSpc>
                <a:spcPct val="100000"/>
              </a:lnSpc>
              <a:spcBef>
                <a:spcPts val="450"/>
              </a:spcBef>
            </a:pPr>
            <a:r>
              <a:rPr sz="1800" spc="-5" dirty="0">
                <a:latin typeface="Arial MT"/>
                <a:cs typeface="Arial MT"/>
              </a:rPr>
              <a:t>full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nodes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305682" y="5148707"/>
            <a:ext cx="7245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00FF"/>
                </a:solidFill>
                <a:latin typeface="Arial MT"/>
                <a:cs typeface="Arial MT"/>
              </a:rPr>
              <a:t>neither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92165" y="5148707"/>
            <a:ext cx="1080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8000"/>
                </a:solidFill>
                <a:latin typeface="Arial MT"/>
                <a:cs typeface="Arial MT"/>
              </a:rPr>
              <a:t>leaf</a:t>
            </a:r>
            <a:r>
              <a:rPr sz="1800" spc="-80" dirty="0">
                <a:solidFill>
                  <a:srgbClr val="008000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8000"/>
                </a:solidFill>
                <a:latin typeface="Arial MT"/>
                <a:cs typeface="Arial MT"/>
              </a:rPr>
              <a:t>nodes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1231" y="2687025"/>
            <a:ext cx="6512200" cy="175658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51010" y="5258625"/>
            <a:ext cx="225424" cy="22542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48594" y="5225351"/>
            <a:ext cx="225424" cy="2254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62611" y="5256339"/>
            <a:ext cx="225424" cy="22542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4232" y="436067"/>
            <a:ext cx="651776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latin typeface="Arial MT"/>
                <a:cs typeface="Arial MT"/>
              </a:rPr>
              <a:t>Definition(Empty  Node)</a:t>
            </a:r>
            <a:endParaRPr sz="4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0000" y="1941448"/>
            <a:ext cx="72453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561975" algn="l"/>
                <a:tab pos="4114165" algn="l"/>
              </a:tabLst>
            </a:pPr>
            <a:r>
              <a:rPr sz="2000" spc="-5" dirty="0">
                <a:latin typeface="Arial MT"/>
                <a:cs typeface="Arial MT"/>
              </a:rPr>
              <a:t>An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empty</a:t>
            </a:r>
            <a:r>
              <a:rPr sz="2000" i="1" dirty="0">
                <a:latin typeface="Arial"/>
                <a:cs typeface="Arial"/>
              </a:rPr>
              <a:t> </a:t>
            </a:r>
            <a:r>
              <a:rPr sz="2000" i="1" spc="-5" dirty="0">
                <a:latin typeface="Arial"/>
                <a:cs typeface="Arial"/>
              </a:rPr>
              <a:t>node</a:t>
            </a:r>
            <a:r>
              <a:rPr sz="2000" i="1" dirty="0"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or</a:t>
            </a:r>
            <a:r>
              <a:rPr sz="2000" dirty="0">
                <a:latin typeface="Arial MT"/>
                <a:cs typeface="Arial MT"/>
              </a:rPr>
              <a:t> a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null </a:t>
            </a:r>
            <a:r>
              <a:rPr sz="2000" i="1" dirty="0">
                <a:latin typeface="Arial"/>
                <a:cs typeface="Arial"/>
              </a:rPr>
              <a:t>sub-tree	</a:t>
            </a:r>
            <a:r>
              <a:rPr sz="2000" spc="-5" dirty="0">
                <a:latin typeface="Arial MT"/>
                <a:cs typeface="Arial MT"/>
              </a:rPr>
              <a:t>is any location where </a:t>
            </a:r>
            <a:r>
              <a:rPr sz="2000" dirty="0">
                <a:latin typeface="Arial MT"/>
                <a:cs typeface="Arial MT"/>
              </a:rPr>
              <a:t>a </a:t>
            </a:r>
            <a:r>
              <a:rPr sz="2000" spc="-5" dirty="0">
                <a:latin typeface="Arial MT"/>
                <a:cs typeface="Arial MT"/>
              </a:rPr>
              <a:t>new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leaf	node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could</a:t>
            </a:r>
            <a:r>
              <a:rPr sz="2000" spc="-5" dirty="0">
                <a:latin typeface="Arial MT"/>
                <a:cs typeface="Arial MT"/>
              </a:rPr>
              <a:t> be appended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8528" y="2912450"/>
            <a:ext cx="6619673" cy="2021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14066" y="436067"/>
            <a:ext cx="579653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Full</a:t>
            </a:r>
            <a:r>
              <a:rPr spc="-100" dirty="0"/>
              <a:t> </a:t>
            </a:r>
            <a:r>
              <a:rPr spc="-10" dirty="0" smtClean="0"/>
              <a:t>Binary</a:t>
            </a:r>
            <a:r>
              <a:rPr lang="en-US" spc="-10" dirty="0" smtClean="0"/>
              <a:t> Tree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3643" y="2382366"/>
            <a:ext cx="6621288" cy="175788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3178" y="1621607"/>
            <a:ext cx="444309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i="1" spc="-5" dirty="0">
                <a:latin typeface="Arial"/>
                <a:cs typeface="Arial"/>
              </a:rPr>
              <a:t>full</a:t>
            </a:r>
            <a:r>
              <a:rPr sz="2000" i="1" spc="-10" dirty="0">
                <a:latin typeface="Arial"/>
                <a:cs typeface="Arial"/>
              </a:rPr>
              <a:t> </a:t>
            </a:r>
            <a:r>
              <a:rPr sz="2000" i="1" spc="-5" dirty="0">
                <a:latin typeface="Arial"/>
                <a:cs typeface="Arial"/>
              </a:rPr>
              <a:t>binary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spc="-5" dirty="0">
                <a:latin typeface="Arial"/>
                <a:cs typeface="Arial"/>
              </a:rPr>
              <a:t>tree</a:t>
            </a:r>
            <a:r>
              <a:rPr sz="2000" i="1" spc="15" dirty="0">
                <a:latin typeface="Arial"/>
                <a:cs typeface="Arial"/>
              </a:rPr>
              <a:t> </a:t>
            </a:r>
            <a:r>
              <a:rPr sz="2000" spc="-5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where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each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node is: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4005" y="1928694"/>
            <a:ext cx="1720850" cy="683260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530"/>
              </a:spcBef>
              <a:buChar char="–"/>
              <a:tabLst>
                <a:tab pos="312420" algn="l"/>
                <a:tab pos="313055" algn="l"/>
              </a:tabLst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ful</a:t>
            </a:r>
            <a:r>
              <a:rPr sz="1800" dirty="0">
                <a:latin typeface="Arial MT"/>
                <a:cs typeface="Arial MT"/>
              </a:rPr>
              <a:t>l</a:t>
            </a:r>
            <a:r>
              <a:rPr sz="1800" spc="-5" dirty="0">
                <a:latin typeface="Arial MT"/>
                <a:cs typeface="Arial MT"/>
              </a:rPr>
              <a:t> node</a:t>
            </a:r>
            <a:r>
              <a:rPr sz="1800" dirty="0">
                <a:latin typeface="Arial MT"/>
                <a:cs typeface="Arial MT"/>
              </a:rPr>
              <a:t>,</a:t>
            </a:r>
            <a:r>
              <a:rPr sz="1800" spc="-5" dirty="0">
                <a:latin typeface="Arial MT"/>
                <a:cs typeface="Arial MT"/>
              </a:rPr>
              <a:t> or</a:t>
            </a:r>
            <a:endParaRPr sz="1800">
              <a:latin typeface="Arial MT"/>
              <a:cs typeface="Arial MT"/>
            </a:endParaRPr>
          </a:p>
          <a:p>
            <a:pPr marL="312420" indent="-300355">
              <a:lnSpc>
                <a:spcPct val="100000"/>
              </a:lnSpc>
              <a:spcBef>
                <a:spcPts val="430"/>
              </a:spcBef>
              <a:buChar char="–"/>
              <a:tabLst>
                <a:tab pos="312420" algn="l"/>
                <a:tab pos="313055" algn="l"/>
              </a:tabLst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lea</a:t>
            </a:r>
            <a:r>
              <a:rPr sz="1800" dirty="0">
                <a:latin typeface="Arial MT"/>
                <a:cs typeface="Arial MT"/>
              </a:rPr>
              <a:t>f</a:t>
            </a:r>
            <a:r>
              <a:rPr sz="1800" spc="-5" dirty="0">
                <a:latin typeface="Arial MT"/>
                <a:cs typeface="Arial MT"/>
              </a:rPr>
              <a:t> node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3178" y="4412265"/>
            <a:ext cx="3028950" cy="105410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2000" spc="-5" dirty="0">
                <a:latin typeface="Arial MT"/>
                <a:cs typeface="Arial MT"/>
              </a:rPr>
              <a:t>These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have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applications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in</a:t>
            </a:r>
            <a:endParaRPr sz="2000">
              <a:latin typeface="Arial MT"/>
              <a:cs typeface="Arial MT"/>
            </a:endParaRPr>
          </a:p>
          <a:p>
            <a:pPr marL="413384" indent="-300355">
              <a:lnSpc>
                <a:spcPct val="100000"/>
              </a:lnSpc>
              <a:spcBef>
                <a:spcPts val="450"/>
              </a:spcBef>
              <a:buChar char="–"/>
              <a:tabLst>
                <a:tab pos="412750" algn="l"/>
                <a:tab pos="413384" algn="l"/>
              </a:tabLst>
            </a:pPr>
            <a:r>
              <a:rPr sz="1800" spc="-5" dirty="0">
                <a:latin typeface="Arial MT"/>
                <a:cs typeface="Arial MT"/>
              </a:rPr>
              <a:t>Expression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trees</a:t>
            </a:r>
            <a:endParaRPr sz="1800">
              <a:latin typeface="Arial MT"/>
              <a:cs typeface="Arial MT"/>
            </a:endParaRPr>
          </a:p>
          <a:p>
            <a:pPr marL="413384" indent="-300355">
              <a:lnSpc>
                <a:spcPct val="100000"/>
              </a:lnSpc>
              <a:spcBef>
                <a:spcPts val="434"/>
              </a:spcBef>
              <a:buChar char="–"/>
              <a:tabLst>
                <a:tab pos="412750" algn="l"/>
                <a:tab pos="413384" algn="l"/>
              </a:tabLst>
            </a:pPr>
            <a:r>
              <a:rPr sz="1800" spc="-10" dirty="0">
                <a:latin typeface="Arial MT"/>
                <a:cs typeface="Arial MT"/>
              </a:rPr>
              <a:t>Huffman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encoding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4396" y="436067"/>
            <a:ext cx="5662803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Perfect</a:t>
            </a:r>
            <a:r>
              <a:rPr spc="-100" dirty="0"/>
              <a:t> </a:t>
            </a:r>
            <a:r>
              <a:rPr spc="-10" dirty="0" smtClean="0"/>
              <a:t>Binary</a:t>
            </a:r>
            <a:r>
              <a:rPr lang="en-US" spc="-10" dirty="0" smtClean="0"/>
              <a:t> tree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878838" y="1606058"/>
            <a:ext cx="26466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Standard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definition: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78295" y="1971098"/>
            <a:ext cx="6329680" cy="1054735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313690" indent="-301625">
              <a:lnSpc>
                <a:spcPct val="100000"/>
              </a:lnSpc>
              <a:spcBef>
                <a:spcPts val="595"/>
              </a:spcBef>
              <a:buChar char="–"/>
              <a:tabLst>
                <a:tab pos="313690" algn="l"/>
                <a:tab pos="314325" algn="l"/>
              </a:tabLst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perfect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binary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tree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of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height</a:t>
            </a:r>
            <a:r>
              <a:rPr sz="2000" spc="20" dirty="0">
                <a:latin typeface="Arial MT"/>
                <a:cs typeface="Arial MT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h</a:t>
            </a:r>
            <a:r>
              <a:rPr sz="2000" i="1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 MT"/>
                <a:cs typeface="Arial MT"/>
              </a:rPr>
              <a:t>is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binary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tree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where</a:t>
            </a:r>
            <a:endParaRPr sz="2000">
              <a:latin typeface="Arial MT"/>
              <a:cs typeface="Arial MT"/>
            </a:endParaRPr>
          </a:p>
          <a:p>
            <a:pPr marL="713105" lvl="1" indent="-195580">
              <a:lnSpc>
                <a:spcPct val="100000"/>
              </a:lnSpc>
              <a:spcBef>
                <a:spcPts val="445"/>
              </a:spcBef>
              <a:buChar char="•"/>
              <a:tabLst>
                <a:tab pos="713740" algn="l"/>
              </a:tabLst>
            </a:pPr>
            <a:r>
              <a:rPr sz="1800" spc="-5" dirty="0">
                <a:latin typeface="Arial MT"/>
                <a:cs typeface="Arial MT"/>
              </a:rPr>
              <a:t>All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leaf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nodes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have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same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depth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i="1" dirty="0">
                <a:latin typeface="Times New Roman"/>
                <a:cs typeface="Times New Roman"/>
              </a:rPr>
              <a:t>h</a:t>
            </a:r>
            <a:endParaRPr sz="1800">
              <a:latin typeface="Times New Roman"/>
              <a:cs typeface="Times New Roman"/>
            </a:endParaRPr>
          </a:p>
          <a:p>
            <a:pPr marL="713105" lvl="1" indent="-195580">
              <a:lnSpc>
                <a:spcPct val="100000"/>
              </a:lnSpc>
              <a:spcBef>
                <a:spcPts val="440"/>
              </a:spcBef>
              <a:buChar char="•"/>
              <a:tabLst>
                <a:tab pos="713740" algn="l"/>
              </a:tabLst>
            </a:pPr>
            <a:r>
              <a:rPr sz="1800" spc="-5" dirty="0">
                <a:latin typeface="Arial MT"/>
                <a:cs typeface="Arial MT"/>
              </a:rPr>
              <a:t>All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other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nodes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full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1716" y="3081124"/>
            <a:ext cx="6744166" cy="1186287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827087" y="4144898"/>
            <a:ext cx="649605" cy="114300"/>
            <a:chOff x="827087" y="4144898"/>
            <a:chExt cx="649605" cy="11430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2074" y="4144898"/>
              <a:ext cx="76369" cy="11429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27074" y="4182999"/>
              <a:ext cx="649605" cy="38100"/>
            </a:xfrm>
            <a:custGeom>
              <a:avLst/>
              <a:gdLst/>
              <a:ahLst/>
              <a:cxnLst/>
              <a:rect l="l" t="t" r="r" b="b"/>
              <a:pathLst>
                <a:path w="649605" h="38100">
                  <a:moveTo>
                    <a:pt x="534987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534987" y="38100"/>
                  </a:lnTo>
                  <a:lnTo>
                    <a:pt x="534987" y="0"/>
                  </a:lnTo>
                  <a:close/>
                </a:path>
                <a:path w="649605" h="38100">
                  <a:moveTo>
                    <a:pt x="649287" y="19177"/>
                  </a:moveTo>
                  <a:lnTo>
                    <a:pt x="611022" y="0"/>
                  </a:lnTo>
                  <a:lnTo>
                    <a:pt x="554037" y="0"/>
                  </a:lnTo>
                  <a:lnTo>
                    <a:pt x="554037" y="38100"/>
                  </a:lnTo>
                  <a:lnTo>
                    <a:pt x="611365" y="38100"/>
                  </a:lnTo>
                  <a:lnTo>
                    <a:pt x="649287" y="19177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89196" y="436067"/>
            <a:ext cx="298780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 smtClean="0">
                <a:latin typeface="Arial MT"/>
                <a:cs typeface="Arial MT"/>
              </a:rPr>
              <a:t>Exampl</a:t>
            </a:r>
            <a:r>
              <a:rPr lang="en-US" sz="4400" spc="-5" dirty="0" smtClean="0">
                <a:latin typeface="Arial MT"/>
                <a:cs typeface="Arial MT"/>
              </a:rPr>
              <a:t>es</a:t>
            </a:r>
            <a:endParaRPr sz="4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8" y="1607515"/>
            <a:ext cx="6372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Perfect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binary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trees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height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i="1" dirty="0">
                <a:latin typeface="Times New Roman"/>
                <a:cs typeface="Times New Roman"/>
              </a:rPr>
              <a:t>h</a:t>
            </a:r>
            <a:r>
              <a:rPr sz="2400" i="1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0,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1,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 MT"/>
                <a:cs typeface="Arial MT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4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3226" y="2261158"/>
            <a:ext cx="4553147" cy="373247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04668" y="436067"/>
            <a:ext cx="5467731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Perfect</a:t>
            </a:r>
            <a:r>
              <a:rPr spc="-100" dirty="0"/>
              <a:t> </a:t>
            </a:r>
            <a:r>
              <a:rPr spc="-10" dirty="0" smtClean="0"/>
              <a:t>Binary</a:t>
            </a:r>
            <a:r>
              <a:rPr lang="en-US" spc="-10" dirty="0" smtClean="0"/>
              <a:t> trees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878839" y="1613756"/>
            <a:ext cx="74974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Arial MT"/>
                <a:cs typeface="Arial MT"/>
              </a:rPr>
              <a:t>Perfect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binary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trees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considered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the</a:t>
            </a:r>
            <a:r>
              <a:rPr sz="2400" spc="80" dirty="0">
                <a:latin typeface="Arial MT"/>
                <a:cs typeface="Arial MT"/>
              </a:rPr>
              <a:t> </a:t>
            </a:r>
            <a:r>
              <a:rPr sz="2400" i="1" spc="-5" dirty="0">
                <a:latin typeface="Arial"/>
                <a:cs typeface="Arial"/>
              </a:rPr>
              <a:t>ideal </a:t>
            </a:r>
            <a:r>
              <a:rPr sz="2400" dirty="0">
                <a:latin typeface="Arial MT"/>
                <a:cs typeface="Arial MT"/>
              </a:rPr>
              <a:t>case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5940" y="2043015"/>
            <a:ext cx="7553325" cy="2860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  <a:tabLst>
                <a:tab pos="913765" algn="l"/>
              </a:tabLst>
            </a:pPr>
            <a:r>
              <a:rPr sz="2000" dirty="0">
                <a:latin typeface="Arial MT"/>
                <a:cs typeface="Arial MT"/>
              </a:rPr>
              <a:t>–	</a:t>
            </a:r>
            <a:r>
              <a:rPr sz="2000" spc="-5" dirty="0">
                <a:latin typeface="Arial MT"/>
                <a:cs typeface="Arial MT"/>
              </a:rPr>
              <a:t>The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height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and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average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depth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are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both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Θ(ln(</a:t>
            </a:r>
            <a:r>
              <a:rPr sz="2000" i="1" spc="-5" dirty="0">
                <a:latin typeface="Times New Roman"/>
                <a:cs typeface="Times New Roman"/>
              </a:rPr>
              <a:t>n</a:t>
            </a:r>
            <a:r>
              <a:rPr sz="2000" spc="-5" dirty="0">
                <a:latin typeface="Times New Roman"/>
                <a:cs typeface="Times New Roman"/>
              </a:rPr>
              <a:t>))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200">
              <a:latin typeface="Times New Roman"/>
              <a:cs typeface="Times New Roman"/>
            </a:endParaRPr>
          </a:p>
          <a:p>
            <a:pPr marL="354965" marR="463550">
              <a:lnSpc>
                <a:spcPct val="100000"/>
              </a:lnSpc>
              <a:spcBef>
                <a:spcPts val="1660"/>
              </a:spcBef>
            </a:pPr>
            <a:r>
              <a:rPr sz="2400" spc="-25" dirty="0">
                <a:latin typeface="Arial MT"/>
                <a:cs typeface="Arial MT"/>
              </a:rPr>
              <a:t>We </a:t>
            </a:r>
            <a:r>
              <a:rPr sz="2400" spc="-5" dirty="0">
                <a:latin typeface="Arial MT"/>
                <a:cs typeface="Arial MT"/>
              </a:rPr>
              <a:t>will attempt to find trees which are as </a:t>
            </a:r>
            <a:r>
              <a:rPr sz="2400" dirty="0">
                <a:latin typeface="Arial MT"/>
                <a:cs typeface="Arial MT"/>
              </a:rPr>
              <a:t>close </a:t>
            </a:r>
            <a:r>
              <a:rPr sz="2400" spc="-5" dirty="0">
                <a:latin typeface="Arial MT"/>
                <a:cs typeface="Arial MT"/>
              </a:rPr>
              <a:t>as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possible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to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perfect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binary trees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650">
              <a:latin typeface="Arial MT"/>
              <a:cs typeface="Arial MT"/>
            </a:endParaRPr>
          </a:p>
          <a:p>
            <a:pPr marL="354965" marR="5080" indent="-3429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One of the limitations of perfect binary trees is </a:t>
            </a:r>
            <a:r>
              <a:rPr sz="2400" dirty="0">
                <a:latin typeface="Arial MT"/>
                <a:cs typeface="Arial MT"/>
              </a:rPr>
              <a:t>restricted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number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of nodes.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10536" y="436067"/>
            <a:ext cx="667626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Complete</a:t>
            </a:r>
            <a:r>
              <a:rPr spc="-100" dirty="0"/>
              <a:t> </a:t>
            </a:r>
            <a:r>
              <a:rPr spc="-10" dirty="0" smtClean="0"/>
              <a:t>Binary</a:t>
            </a:r>
            <a:r>
              <a:rPr lang="en-US" spc="-10" dirty="0" smtClean="0"/>
              <a:t> trees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535940" y="1537556"/>
            <a:ext cx="4572000" cy="12001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spc="-25" dirty="0">
                <a:latin typeface="Arial MT"/>
                <a:cs typeface="Arial MT"/>
              </a:rPr>
              <a:t>We </a:t>
            </a:r>
            <a:r>
              <a:rPr sz="2400" dirty="0">
                <a:latin typeface="Arial MT"/>
                <a:cs typeface="Arial MT"/>
              </a:rPr>
              <a:t>require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binary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trees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which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are</a:t>
            </a:r>
            <a:endParaRPr sz="2400">
              <a:latin typeface="Arial MT"/>
              <a:cs typeface="Arial MT"/>
            </a:endParaRPr>
          </a:p>
          <a:p>
            <a:pPr marL="756285" indent="-301625">
              <a:lnSpc>
                <a:spcPct val="100000"/>
              </a:lnSpc>
              <a:spcBef>
                <a:spcPts val="500"/>
              </a:spcBef>
              <a:buChar char="–"/>
              <a:tabLst>
                <a:tab pos="755650" algn="l"/>
                <a:tab pos="756285" algn="l"/>
              </a:tabLst>
            </a:pPr>
            <a:r>
              <a:rPr sz="2000" spc="-5" dirty="0">
                <a:latin typeface="Arial MT"/>
                <a:cs typeface="Arial MT"/>
              </a:rPr>
              <a:t>Similar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perfect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binary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trees,</a:t>
            </a:r>
            <a:r>
              <a:rPr sz="2000" spc="-2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but</a:t>
            </a:r>
            <a:endParaRPr sz="2000">
              <a:latin typeface="Arial MT"/>
              <a:cs typeface="Arial MT"/>
            </a:endParaRPr>
          </a:p>
          <a:p>
            <a:pPr marL="756285" indent="-301625">
              <a:lnSpc>
                <a:spcPct val="100000"/>
              </a:lnSpc>
              <a:spcBef>
                <a:spcPts val="470"/>
              </a:spcBef>
              <a:buChar char="–"/>
              <a:tabLst>
                <a:tab pos="755650" algn="l"/>
                <a:tab pos="756285" algn="l"/>
              </a:tabLst>
            </a:pPr>
            <a:r>
              <a:rPr sz="2000" spc="-5" dirty="0">
                <a:latin typeface="Arial MT"/>
                <a:cs typeface="Arial MT"/>
              </a:rPr>
              <a:t>Defined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for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all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n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10536" y="436067"/>
            <a:ext cx="7285864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-5" dirty="0">
                <a:latin typeface="Arial MT"/>
                <a:cs typeface="Arial MT"/>
              </a:rPr>
              <a:t>Complete</a:t>
            </a:r>
            <a:r>
              <a:rPr sz="4400" spc="-100" dirty="0">
                <a:latin typeface="Arial MT"/>
                <a:cs typeface="Arial MT"/>
              </a:rPr>
              <a:t> </a:t>
            </a:r>
            <a:r>
              <a:rPr sz="4400" spc="-10" dirty="0" smtClean="0">
                <a:latin typeface="Arial MT"/>
                <a:cs typeface="Arial MT"/>
              </a:rPr>
              <a:t>Binary</a:t>
            </a:r>
            <a:r>
              <a:rPr lang="en-US" sz="4400" spc="-10" dirty="0" smtClean="0">
                <a:latin typeface="Arial MT"/>
                <a:cs typeface="Arial MT"/>
              </a:rPr>
              <a:t> Trees</a:t>
            </a:r>
            <a:endParaRPr sz="4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8838" y="1612594"/>
            <a:ext cx="66592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Arial MT"/>
                <a:cs typeface="Arial MT"/>
              </a:rPr>
              <a:t>A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complete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binary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tree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filled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each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depth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from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left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</a:t>
            </a:r>
            <a:r>
              <a:rPr sz="2000" spc="5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right:</a:t>
            </a:r>
            <a:endParaRPr sz="20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8333" y="2615808"/>
            <a:ext cx="5503233" cy="303457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740" y="168350"/>
            <a:ext cx="8227059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3225" marR="5080" indent="-390525">
              <a:lnSpc>
                <a:spcPct val="100000"/>
              </a:lnSpc>
              <a:spcBef>
                <a:spcPts val="100"/>
              </a:spcBef>
              <a:tabLst>
                <a:tab pos="2235835" algn="l"/>
              </a:tabLst>
            </a:pPr>
            <a:r>
              <a:rPr sz="4000" spc="-10" dirty="0"/>
              <a:t>Implementation </a:t>
            </a:r>
            <a:r>
              <a:rPr sz="4000" spc="-5" dirty="0"/>
              <a:t> Detail</a:t>
            </a:r>
            <a:r>
              <a:rPr sz="4000" dirty="0"/>
              <a:t>s	</a:t>
            </a:r>
            <a:r>
              <a:rPr sz="4000" spc="-10" dirty="0"/>
              <a:t>Structure  </a:t>
            </a:r>
            <a:r>
              <a:rPr sz="4000" spc="-5" dirty="0"/>
              <a:t>of</a:t>
            </a:r>
            <a:r>
              <a:rPr sz="4000" spc="-15" dirty="0"/>
              <a:t> </a:t>
            </a:r>
            <a:r>
              <a:rPr sz="4000" dirty="0"/>
              <a:t>a</a:t>
            </a:r>
            <a:r>
              <a:rPr sz="4000" spc="-10" dirty="0"/>
              <a:t> </a:t>
            </a:r>
            <a:r>
              <a:rPr sz="4000" spc="-5" dirty="0"/>
              <a:t>Node</a:t>
            </a:r>
            <a:endParaRPr sz="40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38600" y="1885950"/>
            <a:ext cx="4943473" cy="24574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9740" y="1605915"/>
            <a:ext cx="2626360" cy="441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76705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 MT"/>
                <a:cs typeface="Arial MT"/>
              </a:rPr>
              <a:t>Struct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node{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int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data;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node* </a:t>
            </a:r>
            <a:r>
              <a:rPr sz="1800" dirty="0">
                <a:latin typeface="Arial MT"/>
                <a:cs typeface="Arial MT"/>
              </a:rPr>
              <a:t> right; 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node*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left;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};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Arial MT"/>
                <a:cs typeface="Arial MT"/>
              </a:rPr>
              <a:t>Struct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node*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newNode(int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value){</a:t>
            </a:r>
            <a:endParaRPr sz="1800">
              <a:latin typeface="Arial MT"/>
              <a:cs typeface="Arial MT"/>
            </a:endParaRPr>
          </a:p>
          <a:p>
            <a:pPr marL="469900" marR="43307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node-&gt;data=valu  e;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Node-&gt;left=NULL</a:t>
            </a:r>
            <a:endParaRPr sz="180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  <a:p>
            <a:pPr marL="469900" marR="357505">
              <a:lnSpc>
                <a:spcPct val="100000"/>
              </a:lnSpc>
            </a:pPr>
            <a:r>
              <a:rPr sz="1800" spc="-5" dirty="0">
                <a:latin typeface="Arial MT"/>
                <a:cs typeface="Arial MT"/>
              </a:rPr>
              <a:t>Node-&gt;right=NUL  L;</a:t>
            </a:r>
            <a:r>
              <a:rPr sz="1800" spc="43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Return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(node);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27426" y="436067"/>
            <a:ext cx="1979295" cy="1366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latin typeface="Arial MT"/>
                <a:cs typeface="Arial MT"/>
              </a:rPr>
              <a:t>Array </a:t>
            </a:r>
            <a:r>
              <a:rPr sz="4400" spc="-5" dirty="0">
                <a:latin typeface="Arial MT"/>
                <a:cs typeface="Arial MT"/>
              </a:rPr>
              <a:t> Storage</a:t>
            </a:r>
            <a:endParaRPr sz="44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8838" y="1607638"/>
            <a:ext cx="546481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20" dirty="0">
                <a:latin typeface="Arial MT"/>
                <a:cs typeface="Arial MT"/>
              </a:rPr>
              <a:t>We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are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able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to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store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complete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tree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as</a:t>
            </a:r>
            <a:r>
              <a:rPr sz="2000" spc="-1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an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array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3138" y="1969334"/>
            <a:ext cx="69830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tabLst>
                <a:tab pos="342265" algn="l"/>
              </a:tabLst>
            </a:pPr>
            <a:r>
              <a:rPr sz="1800" dirty="0">
                <a:latin typeface="Arial MT"/>
                <a:cs typeface="Arial MT"/>
              </a:rPr>
              <a:t>–	</a:t>
            </a:r>
            <a:r>
              <a:rPr sz="1800" spc="-10" dirty="0">
                <a:latin typeface="Arial MT"/>
                <a:cs typeface="Arial MT"/>
              </a:rPr>
              <a:t>Traverse </a:t>
            </a:r>
            <a:r>
              <a:rPr sz="1800" spc="-5" dirty="0">
                <a:latin typeface="Arial MT"/>
                <a:cs typeface="Arial MT"/>
              </a:rPr>
              <a:t>the tree in breadth-first </a:t>
            </a:r>
            <a:r>
              <a:rPr sz="1800" spc="-20" dirty="0">
                <a:latin typeface="Arial MT"/>
                <a:cs typeface="Arial MT"/>
              </a:rPr>
              <a:t>order, </a:t>
            </a:r>
            <a:r>
              <a:rPr sz="1800" spc="-5" dirty="0">
                <a:latin typeface="Arial MT"/>
                <a:cs typeface="Arial MT"/>
              </a:rPr>
              <a:t>placing the entries into the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array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69538" y="2744116"/>
            <a:ext cx="4584350" cy="19952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766</Words>
  <Application>Microsoft Office PowerPoint</Application>
  <PresentationFormat>On-screen Show (4:3)</PresentationFormat>
  <Paragraphs>128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Arial MT</vt:lpstr>
      <vt:lpstr>Calibri</vt:lpstr>
      <vt:lpstr>Times New Roman</vt:lpstr>
      <vt:lpstr>Office Theme</vt:lpstr>
      <vt:lpstr>PowerPoint Presentation</vt:lpstr>
      <vt:lpstr>Outline</vt:lpstr>
      <vt:lpstr>Why Trees Structure?</vt:lpstr>
      <vt:lpstr>Trees</vt:lpstr>
      <vt:lpstr>Terminology</vt:lpstr>
      <vt:lpstr>Terminology</vt:lpstr>
      <vt:lpstr>Terminology</vt:lpstr>
      <vt:lpstr>PowerPoint Presentation</vt:lpstr>
      <vt:lpstr>PowerPoint Presentation</vt:lpstr>
      <vt:lpstr>Terminology</vt:lpstr>
      <vt:lpstr>Terminology</vt:lpstr>
      <vt:lpstr>Terminology</vt:lpstr>
      <vt:lpstr>Terminology  </vt:lpstr>
      <vt:lpstr>Terminology</vt:lpstr>
      <vt:lpstr>Terminology</vt:lpstr>
      <vt:lpstr>Summarized  Terminologies</vt:lpstr>
      <vt:lpstr>A Binary  Tree</vt:lpstr>
      <vt:lpstr>Binary Sub-trees </vt:lpstr>
      <vt:lpstr>Sample Binary  Trees Sample variations on binary trees with five nodes:</vt:lpstr>
      <vt:lpstr>Definition (Full  Node)</vt:lpstr>
      <vt:lpstr>PowerPoint Presentation</vt:lpstr>
      <vt:lpstr>Full Binary Tree</vt:lpstr>
      <vt:lpstr>Perfect Binary tree</vt:lpstr>
      <vt:lpstr>PowerPoint Presentation</vt:lpstr>
      <vt:lpstr>Perfect Binary trees</vt:lpstr>
      <vt:lpstr>Complete Binary trees</vt:lpstr>
      <vt:lpstr>PowerPoint Presentation</vt:lpstr>
      <vt:lpstr>Implementation  Details Structure  of a Node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16-converted</dc:title>
  <dc:creator>mubashra fayyaz</dc:creator>
  <cp:lastModifiedBy>mubashra fayyaz</cp:lastModifiedBy>
  <cp:revision>2</cp:revision>
  <dcterms:created xsi:type="dcterms:W3CDTF">2023-10-18T04:49:48Z</dcterms:created>
  <dcterms:modified xsi:type="dcterms:W3CDTF">2023-10-18T05:00:17Z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