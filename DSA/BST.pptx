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89197" y="461594"/>
            <a:ext cx="216560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67229" y="3796576"/>
            <a:ext cx="4209541" cy="1196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1153" y="186893"/>
            <a:ext cx="7041692" cy="9719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537461"/>
            <a:ext cx="6062980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8592" y="2146173"/>
            <a:ext cx="422719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1125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Week</a:t>
            </a:r>
            <a:r>
              <a:rPr sz="4400" spc="-180" dirty="0">
                <a:latin typeface="Calibri"/>
                <a:cs typeface="Calibri"/>
              </a:rPr>
              <a:t> </a:t>
            </a:r>
            <a:r>
              <a:rPr lang="en-US" sz="4400" spc="-25" dirty="0">
                <a:latin typeface="Calibri"/>
                <a:cs typeface="Calibri"/>
              </a:rPr>
              <a:t>8</a:t>
            </a:r>
            <a:r>
              <a:rPr sz="4400" spc="-25" dirty="0" smtClean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Binary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Search</a:t>
            </a:r>
            <a:r>
              <a:rPr sz="4400" spc="-25" dirty="0">
                <a:latin typeface="Calibri"/>
                <a:cs typeface="Calibri"/>
              </a:rPr>
              <a:t> </a:t>
            </a:r>
            <a:r>
              <a:rPr sz="4400" spc="-85" dirty="0">
                <a:latin typeface="Calibri"/>
                <a:cs typeface="Calibri"/>
              </a:rPr>
              <a:t>Tree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467229" y="3796576"/>
            <a:ext cx="4209541" cy="56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252729">
              <a:lnSpc>
                <a:spcPct val="120100"/>
              </a:lnSpc>
              <a:spcBef>
                <a:spcPts val="100"/>
              </a:spcBef>
            </a:pP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6803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20761"/>
            <a:ext cx="6929755" cy="21532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dirty="0">
                <a:latin typeface="Arial MT"/>
                <a:cs typeface="Arial MT"/>
              </a:rPr>
              <a:t>This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topic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covers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binary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search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trees:</a:t>
            </a:r>
            <a:endParaRPr sz="32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413384" algn="l"/>
              </a:tabLst>
            </a:pPr>
            <a:r>
              <a:rPr sz="2800" spc="-10" dirty="0">
                <a:latin typeface="Arial MT"/>
                <a:cs typeface="Arial MT"/>
              </a:rPr>
              <a:t>Background</a:t>
            </a:r>
            <a:endParaRPr sz="28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Arial MT"/>
                <a:cs typeface="Arial MT"/>
              </a:rPr>
              <a:t>Definition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examples</a:t>
            </a:r>
            <a:endParaRPr sz="28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Arial MT"/>
                <a:cs typeface="Arial MT"/>
              </a:rPr>
              <a:t>Implementation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details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BST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operations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17487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633334" cy="297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Recall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tree,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dictate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children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order:</a:t>
            </a:r>
            <a:endParaRPr sz="2400">
              <a:latin typeface="Arial MT"/>
              <a:cs typeface="Arial MT"/>
            </a:endParaRPr>
          </a:p>
          <a:p>
            <a:pPr marL="413384" marR="130175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Require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left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sub-tree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 </a:t>
            </a:r>
            <a:r>
              <a:rPr sz="2000" dirty="0">
                <a:latin typeface="Arial MT"/>
                <a:cs typeface="Arial MT"/>
              </a:rPr>
              <a:t>stored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Require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right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sub-tree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greater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413384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864" y="461594"/>
            <a:ext cx="4446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spc="-45" dirty="0"/>
              <a:t> </a:t>
            </a:r>
            <a:r>
              <a:rPr dirty="0"/>
              <a:t>Search</a:t>
            </a:r>
            <a:r>
              <a:rPr spc="-30" dirty="0"/>
              <a:t> </a:t>
            </a:r>
            <a:r>
              <a:rPr spc="-5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4389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Graphically,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relationship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613909"/>
            <a:ext cx="7548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Each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sub-</a:t>
            </a:r>
            <a:r>
              <a:rPr sz="2000" dirty="0">
                <a:latin typeface="Arial MT"/>
                <a:cs typeface="Arial MT"/>
              </a:rPr>
              <a:t>trees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 themselves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binary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trees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127" y="2380228"/>
            <a:ext cx="3469523" cy="1421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864" y="461594"/>
            <a:ext cx="4446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spc="-45" dirty="0"/>
              <a:t> </a:t>
            </a:r>
            <a:r>
              <a:rPr dirty="0"/>
              <a:t>Search</a:t>
            </a:r>
            <a:r>
              <a:rPr spc="-30" dirty="0"/>
              <a:t> </a:t>
            </a:r>
            <a:r>
              <a:rPr spc="-5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696834" cy="296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Notice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already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searching: </a:t>
            </a:r>
            <a:r>
              <a:rPr sz="2000" dirty="0">
                <a:latin typeface="Arial MT"/>
                <a:cs typeface="Arial MT"/>
              </a:rPr>
              <a:t>examine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looking </a:t>
            </a:r>
            <a:r>
              <a:rPr sz="2000" spc="-20" dirty="0">
                <a:latin typeface="Arial MT"/>
                <a:cs typeface="Arial MT"/>
              </a:rPr>
              <a:t>for:</a:t>
            </a:r>
            <a:endParaRPr sz="2000">
              <a:latin typeface="Arial MT"/>
              <a:cs typeface="Arial MT"/>
            </a:endParaRPr>
          </a:p>
          <a:p>
            <a:pPr marL="413384" marR="775335" indent="-287020">
              <a:lnSpc>
                <a:spcPct val="100000"/>
              </a:lnSpc>
              <a:spcBef>
                <a:spcPts val="440"/>
              </a:spcBef>
              <a:buChar char="–"/>
              <a:tabLst>
                <a:tab pos="413384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node, </a:t>
            </a:r>
            <a:r>
              <a:rPr sz="1800" spc="-10" dirty="0">
                <a:latin typeface="Arial MT"/>
                <a:cs typeface="Arial MT"/>
              </a:rPr>
              <a:t>continue </a:t>
            </a:r>
            <a:r>
              <a:rPr sz="1800" dirty="0">
                <a:latin typeface="Arial MT"/>
                <a:cs typeface="Arial MT"/>
              </a:rPr>
              <a:t>searching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left</a:t>
            </a:r>
            <a:r>
              <a:rPr sz="1800" spc="-10" dirty="0">
                <a:latin typeface="Arial MT"/>
                <a:cs typeface="Arial MT"/>
              </a:rPr>
              <a:t> sub-</a:t>
            </a:r>
            <a:r>
              <a:rPr sz="1800" spc="-20" dirty="0">
                <a:latin typeface="Arial MT"/>
                <a:cs typeface="Arial MT"/>
              </a:rPr>
              <a:t>tree</a:t>
            </a:r>
            <a:endParaRPr sz="18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434"/>
              </a:spcBef>
              <a:buChar char="–"/>
              <a:tabLst>
                <a:tab pos="413384" algn="l"/>
              </a:tabLst>
            </a:pPr>
            <a:r>
              <a:rPr sz="1800" dirty="0">
                <a:latin typeface="Arial MT"/>
                <a:cs typeface="Arial MT"/>
              </a:rPr>
              <a:t>Otherwise,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searching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sub-</a:t>
            </a:r>
            <a:r>
              <a:rPr sz="1800" spc="-20" dirty="0">
                <a:latin typeface="Arial MT"/>
                <a:cs typeface="Arial MT"/>
              </a:rPr>
              <a:t>tree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order,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true:</a:t>
            </a:r>
            <a:endParaRPr sz="2000">
              <a:latin typeface="Arial MT"/>
              <a:cs typeface="Arial MT"/>
            </a:endParaRPr>
          </a:p>
          <a:p>
            <a:pPr marR="233045" algn="ctr">
              <a:lnSpc>
                <a:spcPct val="100000"/>
              </a:lnSpc>
              <a:spcBef>
                <a:spcPts val="470"/>
              </a:spcBef>
              <a:tabLst>
                <a:tab pos="776605" algn="l"/>
                <a:tab pos="1555750" algn="l"/>
              </a:tabLst>
            </a:pP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b</a:t>
            </a:r>
            <a:r>
              <a:rPr sz="2000" i="1" dirty="0">
                <a:latin typeface="Times New Roman"/>
                <a:cs typeface="Times New Roman"/>
              </a:rPr>
              <a:t>	a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</a:t>
            </a:r>
            <a:r>
              <a:rPr sz="2000" i="1" spc="-50" dirty="0">
                <a:latin typeface="Times New Roman"/>
                <a:cs typeface="Times New Roman"/>
              </a:rPr>
              <a:t>b</a:t>
            </a:r>
            <a:r>
              <a:rPr sz="2000" i="1" dirty="0">
                <a:latin typeface="Times New Roman"/>
                <a:cs typeface="Times New Roman"/>
              </a:rPr>
              <a:t>	a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3983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462520" cy="209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Thus,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non-</a:t>
            </a:r>
            <a:r>
              <a:rPr sz="2400" dirty="0">
                <a:latin typeface="Arial MT"/>
                <a:cs typeface="Arial MT"/>
              </a:rPr>
              <a:t>empty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search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properties:</a:t>
            </a:r>
            <a:endParaRPr sz="2400">
              <a:latin typeface="Arial MT"/>
              <a:cs typeface="Arial MT"/>
            </a:endParaRPr>
          </a:p>
          <a:p>
            <a:pPr marL="413384" marR="161925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left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sub-</a:t>
            </a:r>
            <a:r>
              <a:rPr sz="2000" dirty="0">
                <a:latin typeface="Arial MT"/>
                <a:cs typeface="Arial MT"/>
              </a:rPr>
              <a:t>tree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binary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values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right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sub-</a:t>
            </a:r>
            <a:r>
              <a:rPr sz="2000" dirty="0">
                <a:latin typeface="Arial MT"/>
                <a:cs typeface="Arial MT"/>
              </a:rPr>
              <a:t>tree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binary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search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values</a:t>
            </a:r>
            <a:endParaRPr sz="2000">
              <a:latin typeface="Arial MT"/>
              <a:cs typeface="Arial MT"/>
            </a:endParaRPr>
          </a:p>
          <a:p>
            <a:pPr marL="413384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greater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value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64839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Here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search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trees: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328" y="2527667"/>
            <a:ext cx="4118620" cy="152631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49237" y="2500376"/>
            <a:ext cx="8296275" cy="3736975"/>
            <a:chOff x="249237" y="2500376"/>
            <a:chExt cx="8296275" cy="37369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404" y="4385183"/>
              <a:ext cx="8082665" cy="18516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237" y="2500376"/>
              <a:ext cx="4036949" cy="19065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4504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5160" y="2114862"/>
            <a:ext cx="3884106" cy="45741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8839" y="1625930"/>
            <a:ext cx="737298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Unfortunately,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possible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construct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degenerate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binary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search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trees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851654"/>
            <a:ext cx="4530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This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equivalent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list, </a:t>
            </a:r>
            <a:r>
              <a:rPr sz="1800" i="1" dirty="0">
                <a:latin typeface="Arial"/>
                <a:cs typeface="Arial"/>
              </a:rPr>
              <a:t>i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i="1" dirty="0">
                <a:latin typeface="Arial"/>
                <a:cs typeface="Arial"/>
              </a:rPr>
              <a:t>e</a:t>
            </a:r>
            <a:r>
              <a:rPr sz="1800" dirty="0">
                <a:latin typeface="Arial MT"/>
                <a:cs typeface="Arial MT"/>
              </a:rPr>
              <a:t>.,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O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66490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search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37" y="2085975"/>
            <a:ext cx="7780194" cy="43226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008380">
              <a:lnSpc>
                <a:spcPct val="100000"/>
              </a:lnSpc>
              <a:spcBef>
                <a:spcPts val="105"/>
              </a:spcBef>
            </a:pPr>
            <a:r>
              <a:rPr dirty="0"/>
              <a:t>Structure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BST</a:t>
            </a:r>
            <a:r>
              <a:rPr spc="-25" dirty="0"/>
              <a:t> </a:t>
            </a:r>
            <a:r>
              <a:rPr spc="-20" dirty="0"/>
              <a:t>Node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392" y="3018117"/>
            <a:ext cx="4558349" cy="18766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7340" y="2149805"/>
            <a:ext cx="296291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Struct</a:t>
            </a:r>
            <a:r>
              <a:rPr sz="3200" spc="-10" dirty="0">
                <a:latin typeface="Calibri"/>
                <a:cs typeface="Calibri"/>
              </a:rPr>
              <a:t> node{</a:t>
            </a:r>
            <a:endParaRPr sz="32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int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data;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*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left; </a:t>
            </a:r>
            <a:r>
              <a:rPr sz="3200" dirty="0">
                <a:latin typeface="Calibri"/>
                <a:cs typeface="Calibri"/>
              </a:rPr>
              <a:t>node </a:t>
            </a:r>
            <a:r>
              <a:rPr sz="3200" spc="-20" dirty="0">
                <a:latin typeface="Calibri"/>
                <a:cs typeface="Calibri"/>
              </a:rPr>
              <a:t>*right;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latin typeface="Calibri"/>
                <a:cs typeface="Calibri"/>
              </a:rPr>
              <a:t>};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22936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</a:t>
            </a:r>
            <a:r>
              <a:rPr spc="-100" dirty="0"/>
              <a:t> </a:t>
            </a:r>
            <a:r>
              <a:rPr dirty="0"/>
              <a:t>on</a:t>
            </a:r>
            <a:r>
              <a:rPr spc="-9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4205605" cy="424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Insert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Update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Search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Delete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Traversal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25" dirty="0">
                <a:latin typeface="Calibri"/>
                <a:cs typeface="Calibri"/>
              </a:rPr>
              <a:t>BFT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spc="-25" dirty="0">
                <a:latin typeface="Calibri"/>
                <a:cs typeface="Calibri"/>
              </a:rPr>
              <a:t>DFS</a:t>
            </a:r>
            <a:endParaRPr sz="2000">
              <a:latin typeface="Calibri"/>
              <a:cs typeface="Calibri"/>
            </a:endParaRPr>
          </a:p>
          <a:p>
            <a:pPr marL="1155700" lvl="2" indent="-228600">
              <a:lnSpc>
                <a:spcPts val="203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spc="-10" dirty="0">
                <a:latin typeface="Calibri"/>
                <a:cs typeface="Calibri"/>
              </a:rPr>
              <a:t>In-</a:t>
            </a:r>
            <a:r>
              <a:rPr sz="1700" spc="-30" dirty="0">
                <a:latin typeface="Calibri"/>
                <a:cs typeface="Calibri"/>
              </a:rPr>
              <a:t>order,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post-</a:t>
            </a:r>
            <a:r>
              <a:rPr sz="1700" spc="-25" dirty="0">
                <a:latin typeface="Calibri"/>
                <a:cs typeface="Calibri"/>
              </a:rPr>
              <a:t>order,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pre-</a:t>
            </a:r>
            <a:r>
              <a:rPr sz="1700" spc="-20" dirty="0">
                <a:latin typeface="Calibri"/>
                <a:cs typeface="Calibri"/>
              </a:rPr>
              <a:t>order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ts val="263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minimum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10" dirty="0">
                <a:latin typeface="Calibri"/>
                <a:cs typeface="Calibri"/>
              </a:rPr>
              <a:t> maximum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10" dirty="0">
                <a:latin typeface="Calibri"/>
                <a:cs typeface="Calibri"/>
              </a:rPr>
              <a:t> predecessor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10" dirty="0">
                <a:latin typeface="Calibri"/>
                <a:cs typeface="Calibri"/>
              </a:rPr>
              <a:t> Successor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height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86321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678116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Let’s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insert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random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BST </a:t>
            </a:r>
            <a:r>
              <a:rPr sz="3200" spc="-10" dirty="0">
                <a:latin typeface="Calibri"/>
                <a:cs typeface="Calibri"/>
              </a:rPr>
              <a:t>(Discussion)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21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39088"/>
            <a:ext cx="6630034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Node*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*head)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if(head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NULL)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841500" marR="238569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head=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node; head-</a:t>
            </a:r>
            <a:r>
              <a:rPr sz="2400" dirty="0">
                <a:latin typeface="Calibri"/>
                <a:cs typeface="Calibri"/>
              </a:rPr>
              <a:t>&gt;data=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data;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&gt;left=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NULL;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&gt;right=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else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spc="-10" dirty="0">
                <a:latin typeface="Calibri"/>
                <a:cs typeface="Calibri"/>
              </a:rPr>
              <a:t>&gt;data)</a:t>
            </a:r>
            <a:endParaRPr sz="2400">
              <a:latin typeface="Calibri"/>
              <a:cs typeface="Calibri"/>
            </a:endParaRPr>
          </a:p>
          <a:p>
            <a:pPr marL="927100" marR="331470" indent="914400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&gt;left=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insert(data,</a:t>
            </a:r>
            <a:r>
              <a:rPr sz="2400" spc="-20" dirty="0">
                <a:latin typeface="Calibri"/>
                <a:cs typeface="Calibri"/>
              </a:rPr>
              <a:t> head-</a:t>
            </a:r>
            <a:r>
              <a:rPr sz="2400" spc="-10" dirty="0">
                <a:latin typeface="Calibri"/>
                <a:cs typeface="Calibri"/>
              </a:rPr>
              <a:t>&gt;left); </a:t>
            </a:r>
            <a:r>
              <a:rPr sz="2400" dirty="0">
                <a:latin typeface="Calibri"/>
                <a:cs typeface="Calibri"/>
              </a:rPr>
              <a:t>else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if(data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spc="-10" dirty="0">
                <a:latin typeface="Calibri"/>
                <a:cs typeface="Calibri"/>
              </a:rPr>
              <a:t>&gt;data)</a:t>
            </a:r>
            <a:endParaRPr sz="2400">
              <a:latin typeface="Calibri"/>
              <a:cs typeface="Calibri"/>
            </a:endParaRPr>
          </a:p>
          <a:p>
            <a:pPr marL="927100" marR="5080" indent="9144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&gt;right=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insert(data,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spc="-10" dirty="0">
                <a:latin typeface="Calibri"/>
                <a:cs typeface="Calibri"/>
              </a:rPr>
              <a:t>&gt;right);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head;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597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07642"/>
            <a:ext cx="727329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7100" marR="1189355" indent="-91503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Node*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search(node*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head,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data){ </a:t>
            </a:r>
            <a:r>
              <a:rPr sz="3200" dirty="0">
                <a:latin typeface="Calibri"/>
                <a:cs typeface="Calibri"/>
              </a:rPr>
              <a:t>if(head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NULL)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NULL;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else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if(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head-</a:t>
            </a:r>
            <a:r>
              <a:rPr sz="3200" spc="-10" dirty="0">
                <a:latin typeface="Calibri"/>
                <a:cs typeface="Calibri"/>
              </a:rPr>
              <a:t>&gt;data)</a:t>
            </a:r>
            <a:endParaRPr sz="3200">
              <a:latin typeface="Calibri"/>
              <a:cs typeface="Calibri"/>
            </a:endParaRPr>
          </a:p>
          <a:p>
            <a:pPr marL="927100" marR="226060" indent="9144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search(head-</a:t>
            </a:r>
            <a:r>
              <a:rPr sz="3200" dirty="0">
                <a:latin typeface="Calibri"/>
                <a:cs typeface="Calibri"/>
              </a:rPr>
              <a:t>&gt;left,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data); </a:t>
            </a:r>
            <a:r>
              <a:rPr sz="3200" dirty="0">
                <a:latin typeface="Calibri"/>
                <a:cs typeface="Calibri"/>
              </a:rPr>
              <a:t>else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(data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&gt;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head-&gt;data)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search(head-</a:t>
            </a:r>
            <a:r>
              <a:rPr sz="3200" dirty="0">
                <a:latin typeface="Calibri"/>
                <a:cs typeface="Calibri"/>
              </a:rPr>
              <a:t>&gt;right,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data);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3200" spc="-20" dirty="0">
                <a:latin typeface="Calibri"/>
                <a:cs typeface="Calibri"/>
              </a:rPr>
              <a:t>else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head;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535430">
              <a:lnSpc>
                <a:spcPct val="100000"/>
              </a:lnSpc>
              <a:spcBef>
                <a:spcPts val="105"/>
              </a:spcBef>
            </a:pPr>
            <a:r>
              <a:rPr dirty="0"/>
              <a:t>Finding</a:t>
            </a:r>
            <a:r>
              <a:rPr spc="10" dirty="0"/>
              <a:t> </a:t>
            </a:r>
            <a:r>
              <a:rPr spc="-10" dirty="0"/>
              <a:t>minimum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Node*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min(node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*head)</a:t>
            </a:r>
            <a:endParaRPr sz="3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{</a:t>
            </a:r>
            <a:endParaRPr sz="3200">
              <a:latin typeface="Calibri"/>
              <a:cs typeface="Calibri"/>
            </a:endParaRPr>
          </a:p>
          <a:p>
            <a:pPr marL="1155065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if(head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NULL)</a:t>
            </a:r>
            <a:endParaRPr sz="3200">
              <a:latin typeface="Calibri"/>
              <a:cs typeface="Calibri"/>
            </a:endParaRPr>
          </a:p>
          <a:p>
            <a:pPr marL="2069464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NULL;</a:t>
            </a:r>
            <a:endParaRPr sz="3200">
              <a:latin typeface="Calibri"/>
              <a:cs typeface="Calibri"/>
            </a:endParaRPr>
          </a:p>
          <a:p>
            <a:pPr marL="2069464" marR="280035" indent="-9144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else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20" dirty="0">
                <a:latin typeface="Calibri"/>
                <a:cs typeface="Calibri"/>
              </a:rPr>
              <a:t> (head-</a:t>
            </a:r>
            <a:r>
              <a:rPr sz="3200" dirty="0">
                <a:latin typeface="Calibri"/>
                <a:cs typeface="Calibri"/>
              </a:rPr>
              <a:t>&gt;left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== </a:t>
            </a:r>
            <a:r>
              <a:rPr sz="3200" spc="-10" dirty="0">
                <a:latin typeface="Calibri"/>
                <a:cs typeface="Calibri"/>
              </a:rPr>
              <a:t>NULL) </a:t>
            </a: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head;</a:t>
            </a:r>
            <a:endParaRPr sz="3200">
              <a:latin typeface="Calibri"/>
              <a:cs typeface="Calibri"/>
            </a:endParaRPr>
          </a:p>
          <a:p>
            <a:pPr marL="1155065">
              <a:lnSpc>
                <a:spcPct val="100000"/>
              </a:lnSpc>
              <a:spcBef>
                <a:spcPts val="5"/>
              </a:spcBef>
            </a:pPr>
            <a:r>
              <a:rPr sz="3200" spc="-20" dirty="0">
                <a:latin typeface="Calibri"/>
                <a:cs typeface="Calibri"/>
              </a:rPr>
              <a:t>else</a:t>
            </a:r>
            <a:endParaRPr sz="3200">
              <a:latin typeface="Calibri"/>
              <a:cs typeface="Calibri"/>
            </a:endParaRPr>
          </a:p>
          <a:p>
            <a:pPr marL="2069464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min(head-</a:t>
            </a:r>
            <a:r>
              <a:rPr sz="3200" spc="-10" dirty="0">
                <a:latin typeface="Calibri"/>
                <a:cs typeface="Calibri"/>
              </a:rPr>
              <a:t>&gt;left);</a:t>
            </a:r>
            <a:endParaRPr sz="3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477645">
              <a:lnSpc>
                <a:spcPct val="100000"/>
              </a:lnSpc>
              <a:spcBef>
                <a:spcPts val="105"/>
              </a:spcBef>
            </a:pPr>
            <a:r>
              <a:rPr dirty="0"/>
              <a:t>Finding</a:t>
            </a:r>
            <a:r>
              <a:rPr spc="-20" dirty="0"/>
              <a:t> </a:t>
            </a:r>
            <a:r>
              <a:rPr spc="-10" dirty="0"/>
              <a:t>Maximum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531442"/>
            <a:ext cx="596328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Node*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max(node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*head)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{</a:t>
            </a:r>
            <a:endParaRPr sz="3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if(head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NULL)</a:t>
            </a:r>
            <a:endParaRPr sz="3200">
              <a:latin typeface="Calibri"/>
              <a:cs typeface="Calibri"/>
            </a:endParaRPr>
          </a:p>
          <a:p>
            <a:pPr marL="1840864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NULL;</a:t>
            </a:r>
            <a:endParaRPr sz="3200">
              <a:latin typeface="Calibri"/>
              <a:cs typeface="Calibri"/>
            </a:endParaRPr>
          </a:p>
          <a:p>
            <a:pPr marL="1840864" marR="342265" indent="-9144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else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(head-</a:t>
            </a:r>
            <a:r>
              <a:rPr sz="3200" dirty="0">
                <a:latin typeface="Calibri"/>
                <a:cs typeface="Calibri"/>
              </a:rPr>
              <a:t>&gt;right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==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NULL) </a:t>
            </a: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head;</a:t>
            </a:r>
            <a:endParaRPr sz="3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</a:pPr>
            <a:r>
              <a:rPr sz="3200" spc="-20" dirty="0">
                <a:latin typeface="Calibri"/>
                <a:cs typeface="Calibri"/>
              </a:rPr>
              <a:t>else</a:t>
            </a:r>
            <a:endParaRPr sz="3200">
              <a:latin typeface="Calibri"/>
              <a:cs typeface="Calibri"/>
            </a:endParaRPr>
          </a:p>
          <a:p>
            <a:pPr marL="1840864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return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max(head-</a:t>
            </a:r>
            <a:r>
              <a:rPr sz="3200" spc="-10" dirty="0">
                <a:latin typeface="Calibri"/>
                <a:cs typeface="Calibri"/>
              </a:rPr>
              <a:t>&gt;right);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240155">
              <a:lnSpc>
                <a:spcPct val="100000"/>
              </a:lnSpc>
              <a:spcBef>
                <a:spcPts val="105"/>
              </a:spcBef>
            </a:pPr>
            <a:r>
              <a:rPr dirty="0"/>
              <a:t>Finding </a:t>
            </a:r>
            <a:r>
              <a:rPr spc="-10" dirty="0"/>
              <a:t>Predecessor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971800"/>
            <a:ext cx="4953000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540574"/>
            <a:ext cx="8305800" cy="25584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predecessor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355600" marR="53975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predecessor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 </a:t>
            </a:r>
            <a:r>
              <a:rPr sz="2400" spc="-10" dirty="0">
                <a:latin typeface="Calibri"/>
                <a:cs typeface="Calibri"/>
              </a:rPr>
              <a:t>tree.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15"/>
              </a:spcBef>
            </a:pPr>
            <a:endParaRPr sz="2400">
              <a:latin typeface="Calibri"/>
              <a:cs typeface="Calibri"/>
            </a:endParaRPr>
          </a:p>
          <a:p>
            <a:pPr marL="501459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If(head-&gt;left!=NULL)</a:t>
            </a:r>
            <a:endParaRPr sz="2000">
              <a:latin typeface="Calibri"/>
              <a:cs typeface="Calibri"/>
            </a:endParaRPr>
          </a:p>
          <a:p>
            <a:pPr marL="592899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max(head-&gt;left)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511300">
              <a:lnSpc>
                <a:spcPct val="100000"/>
              </a:lnSpc>
              <a:spcBef>
                <a:spcPts val="105"/>
              </a:spcBef>
            </a:pPr>
            <a:r>
              <a:rPr dirty="0"/>
              <a:t>Finding </a:t>
            </a:r>
            <a:r>
              <a:rPr spc="-10" dirty="0"/>
              <a:t>Successor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3124200"/>
            <a:ext cx="4953000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540574"/>
            <a:ext cx="8406130" cy="25584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355600" marR="959485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 </a:t>
            </a:r>
            <a:r>
              <a:rPr sz="2400" spc="-10" dirty="0">
                <a:latin typeface="Calibri"/>
                <a:cs typeface="Calibri"/>
              </a:rPr>
              <a:t>tree.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15"/>
              </a:spcBef>
            </a:pPr>
            <a:endParaRPr sz="2400">
              <a:latin typeface="Calibri"/>
              <a:cs typeface="Calibri"/>
            </a:endParaRPr>
          </a:p>
          <a:p>
            <a:pPr marL="501459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If(head-&gt;right!=NULL)</a:t>
            </a:r>
            <a:endParaRPr sz="2000">
              <a:latin typeface="Calibri"/>
              <a:cs typeface="Calibri"/>
            </a:endParaRPr>
          </a:p>
          <a:p>
            <a:pPr marL="592899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min(head-&gt;right)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72133"/>
            <a:ext cx="5877560" cy="1564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being erased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always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leaf</a:t>
            </a:r>
            <a:r>
              <a:rPr sz="1800" spc="-20" dirty="0">
                <a:latin typeface="Arial MT"/>
                <a:cs typeface="Arial MT"/>
              </a:rPr>
              <a:t> node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-10" dirty="0">
                <a:latin typeface="Arial MT"/>
                <a:cs typeface="Arial MT"/>
              </a:rPr>
              <a:t> scenarios:</a:t>
            </a:r>
            <a:endParaRPr sz="18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390"/>
              </a:spcBef>
              <a:buChar char="–"/>
              <a:tabLst>
                <a:tab pos="413384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node,</a:t>
            </a:r>
            <a:endParaRPr sz="16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385"/>
              </a:spcBef>
              <a:buChar char="–"/>
              <a:tabLst>
                <a:tab pos="413384" algn="l"/>
              </a:tabLst>
            </a:pP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exactly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child,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or</a:t>
            </a:r>
            <a:endParaRPr sz="16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385"/>
              </a:spcBef>
              <a:buChar char="–"/>
              <a:tabLst>
                <a:tab pos="413384" algn="l"/>
              </a:tabLst>
            </a:pPr>
            <a:r>
              <a:rPr sz="1600" dirty="0">
                <a:latin typeface="Arial MT"/>
                <a:cs typeface="Arial MT"/>
              </a:rPr>
              <a:t>It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children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(it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node)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24" y="3380357"/>
            <a:ext cx="8004877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666990" cy="111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removed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appropriate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member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onsolas"/>
                <a:cs typeface="Consolas"/>
              </a:rPr>
              <a:t>nullptr</a:t>
            </a:r>
            <a:endParaRPr sz="2400">
              <a:latin typeface="Consolas"/>
              <a:cs typeface="Consolas"/>
            </a:endParaRPr>
          </a:p>
          <a:p>
            <a:pPr marL="127000">
              <a:lnSpc>
                <a:spcPct val="100000"/>
              </a:lnSpc>
              <a:spcBef>
                <a:spcPts val="495"/>
              </a:spcBef>
              <a:tabLst>
                <a:tab pos="413384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Consider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75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24" y="3380357"/>
            <a:ext cx="8004877" cy="18561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18310"/>
            <a:ext cx="679577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Consolas"/>
                <a:cs typeface="Consolas"/>
              </a:rPr>
              <a:t>left_tree</a:t>
            </a:r>
            <a:r>
              <a:rPr sz="2400" spc="-615" dirty="0">
                <a:latin typeface="Consolas"/>
                <a:cs typeface="Consolas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25" dirty="0">
                <a:latin typeface="Arial MT"/>
                <a:cs typeface="Arial MT"/>
              </a:rPr>
              <a:t> to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75"/>
              </a:lnSpc>
            </a:pPr>
            <a:r>
              <a:rPr sz="2400" spc="-10" dirty="0">
                <a:latin typeface="Consolas"/>
                <a:cs typeface="Consolas"/>
              </a:rPr>
              <a:t>nullptr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24" y="3380357"/>
            <a:ext cx="8004877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8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18310"/>
            <a:ext cx="54991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Erasing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similar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24" y="3380357"/>
            <a:ext cx="8004877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18310"/>
            <a:ext cx="696214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onsolas"/>
                <a:cs typeface="Consolas"/>
              </a:rPr>
              <a:t>right_tree</a:t>
            </a:r>
            <a:r>
              <a:rPr sz="2400" spc="-600" dirty="0">
                <a:latin typeface="Consolas"/>
                <a:cs typeface="Consolas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39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75"/>
              </a:lnSpc>
            </a:pPr>
            <a:r>
              <a:rPr sz="2400" spc="-10" dirty="0">
                <a:latin typeface="Consolas"/>
                <a:cs typeface="Consolas"/>
              </a:rPr>
              <a:t>nullptr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24" y="3380357"/>
            <a:ext cx="8004877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53300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child,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promote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 MT"/>
                <a:cs typeface="Arial MT"/>
              </a:rPr>
              <a:t>sub-</a:t>
            </a:r>
            <a:r>
              <a:rPr sz="2400" dirty="0">
                <a:latin typeface="Arial MT"/>
                <a:cs typeface="Arial MT"/>
              </a:rPr>
              <a:t>tree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child</a:t>
            </a:r>
            <a:endParaRPr sz="24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484"/>
              </a:spcBef>
              <a:tabLst>
                <a:tab pos="413384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Consider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8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left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child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552" y="3380357"/>
            <a:ext cx="8009449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18310"/>
            <a:ext cx="6398895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Consolas"/>
                <a:cs typeface="Consolas"/>
              </a:rPr>
              <a:t>left_tree</a:t>
            </a:r>
            <a:r>
              <a:rPr sz="2400" spc="-615" dirty="0">
                <a:latin typeface="Consolas"/>
                <a:cs typeface="Consolas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11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563" y="3380357"/>
            <a:ext cx="7721438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2421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promoting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 MT"/>
                <a:cs typeface="Arial MT"/>
              </a:rPr>
              <a:t>sub-</a:t>
            </a:r>
            <a:r>
              <a:rPr sz="2400" spc="-2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484"/>
              </a:spcBef>
              <a:tabLst>
                <a:tab pos="413384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1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39,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child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11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563" y="3380357"/>
            <a:ext cx="7721438" cy="18561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18310"/>
            <a:ext cx="7560945" cy="113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39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onsolas"/>
                <a:cs typeface="Consolas"/>
              </a:rPr>
              <a:t>left_node</a:t>
            </a:r>
            <a:r>
              <a:rPr sz="2400" spc="-610" dirty="0">
                <a:latin typeface="Consolas"/>
                <a:cs typeface="Consolas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42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11</a:t>
            </a:r>
            <a:endParaRPr sz="24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484"/>
              </a:spcBef>
              <a:tabLst>
                <a:tab pos="413384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Notice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still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maintained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585" y="3380357"/>
            <a:ext cx="714541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8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55035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Consider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erasing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99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145416" cy="18561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60231"/>
            <a:ext cx="7264400" cy="11893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left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sub-</a:t>
            </a:r>
            <a:r>
              <a:rPr sz="2400" dirty="0">
                <a:latin typeface="Arial MT"/>
                <a:cs typeface="Arial MT"/>
              </a:rPr>
              <a:t>tree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promoted:</a:t>
            </a:r>
            <a:endParaRPr sz="24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434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member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Consolas"/>
                <a:cs typeface="Consolas"/>
              </a:rPr>
              <a:t>right_tree</a:t>
            </a:r>
            <a:r>
              <a:rPr sz="2000" spc="-595" dirty="0">
                <a:latin typeface="Consolas"/>
                <a:cs typeface="Consolas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70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92</a:t>
            </a:r>
            <a:endParaRPr sz="20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525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Again,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maintained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21438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7378"/>
            <a:ext cx="6741159" cy="1544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Finally,</a:t>
            </a:r>
            <a:r>
              <a:rPr sz="1800" dirty="0">
                <a:latin typeface="Arial MT"/>
                <a:cs typeface="Arial MT"/>
              </a:rPr>
              <a:t> we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consider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problem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erasing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full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node, </a:t>
            </a:r>
            <a:r>
              <a:rPr sz="1800" i="1" dirty="0">
                <a:latin typeface="Arial"/>
                <a:cs typeface="Arial"/>
              </a:rPr>
              <a:t>e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i="1" dirty="0">
                <a:latin typeface="Arial"/>
                <a:cs typeface="Arial"/>
              </a:rPr>
              <a:t>g</a:t>
            </a:r>
            <a:r>
              <a:rPr sz="1800" dirty="0">
                <a:latin typeface="Arial MT"/>
                <a:cs typeface="Arial MT"/>
              </a:rPr>
              <a:t>.,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42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operations:</a:t>
            </a:r>
            <a:endParaRPr sz="18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395"/>
              </a:spcBef>
              <a:buChar char="–"/>
              <a:tabLst>
                <a:tab pos="413384" algn="l"/>
              </a:tabLst>
            </a:pPr>
            <a:r>
              <a:rPr sz="1600" dirty="0">
                <a:latin typeface="Arial MT"/>
                <a:cs typeface="Arial MT"/>
              </a:rPr>
              <a:t>Replace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42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minimum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right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sub-</a:t>
            </a:r>
            <a:r>
              <a:rPr sz="1600" spc="-20" dirty="0">
                <a:latin typeface="Arial MT"/>
                <a:cs typeface="Arial MT"/>
              </a:rPr>
              <a:t>tree</a:t>
            </a:r>
            <a:endParaRPr sz="16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385"/>
              </a:spcBef>
              <a:buChar char="–"/>
              <a:tabLst>
                <a:tab pos="413384" algn="l"/>
              </a:tabLst>
            </a:pPr>
            <a:r>
              <a:rPr sz="1600" dirty="0">
                <a:latin typeface="Arial MT"/>
                <a:cs typeface="Arial MT"/>
              </a:rPr>
              <a:t>Erase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object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right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sub-</a:t>
            </a:r>
            <a:r>
              <a:rPr sz="1600" spc="-20" dirty="0">
                <a:latin typeface="Arial MT"/>
                <a:cs typeface="Arial MT"/>
              </a:rPr>
              <a:t>tree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52923"/>
            <a:ext cx="5850890" cy="8312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replace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47</a:t>
            </a:r>
            <a:endParaRPr sz="24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484"/>
              </a:spcBef>
              <a:tabLst>
                <a:tab pos="413384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temporarily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copies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47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tree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52923"/>
            <a:ext cx="7021195" cy="8312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recursively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erase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47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right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sub-</a:t>
            </a:r>
            <a:r>
              <a:rPr sz="2400" spc="-2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484"/>
              </a:spcBef>
              <a:tabLst>
                <a:tab pos="413384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47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right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</a:t>
            </a:r>
            <a:r>
              <a:rPr sz="2000" spc="-20" dirty="0">
                <a:latin typeface="Arial MT"/>
                <a:cs typeface="Arial MT"/>
              </a:rPr>
              <a:t>tree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50932"/>
            <a:ext cx="8015605" cy="105981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000" dirty="0">
                <a:latin typeface="Arial MT"/>
                <a:cs typeface="Arial MT"/>
              </a:rPr>
              <a:t>Leaf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Consolas"/>
                <a:cs typeface="Consolas"/>
              </a:rPr>
              <a:t>left_tree</a:t>
            </a:r>
            <a:r>
              <a:rPr sz="2000" spc="-585" dirty="0">
                <a:latin typeface="Consolas"/>
                <a:cs typeface="Consolas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51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Consolas"/>
                <a:cs typeface="Consolas"/>
              </a:rPr>
              <a:t>nullptr</a:t>
            </a:r>
            <a:endParaRPr sz="2000">
              <a:latin typeface="Consolas"/>
              <a:cs typeface="Consolas"/>
            </a:endParaRPr>
          </a:p>
          <a:p>
            <a:pPr marL="127000">
              <a:lnSpc>
                <a:spcPct val="100000"/>
              </a:lnSpc>
              <a:spcBef>
                <a:spcPts val="490"/>
              </a:spcBef>
              <a:tabLst>
                <a:tab pos="413384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Notice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still</a:t>
            </a:r>
            <a:r>
              <a:rPr sz="1800" spc="-10" dirty="0">
                <a:latin typeface="Arial MT"/>
                <a:cs typeface="Arial MT"/>
              </a:rPr>
              <a:t> sorted:</a:t>
            </a:r>
            <a:endParaRPr sz="18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  <a:spcBef>
                <a:spcPts val="385"/>
              </a:spcBef>
            </a:pPr>
            <a:r>
              <a:rPr sz="1800" dirty="0">
                <a:latin typeface="Arial MT"/>
                <a:cs typeface="Arial MT"/>
              </a:rPr>
              <a:t>47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least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 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</a:t>
            </a:r>
            <a:r>
              <a:rPr sz="1800" spc="-10" dirty="0">
                <a:latin typeface="Arial MT"/>
                <a:cs typeface="Arial MT"/>
              </a:rPr>
              <a:t> sub-</a:t>
            </a:r>
            <a:r>
              <a:rPr sz="1800" spc="-20" dirty="0">
                <a:latin typeface="Arial MT"/>
                <a:cs typeface="Arial MT"/>
              </a:rPr>
              <a:t>tree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52923"/>
            <a:ext cx="7414259" cy="14954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erase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root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47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again:</a:t>
            </a:r>
            <a:endParaRPr sz="2400">
              <a:latin typeface="Arial MT"/>
              <a:cs typeface="Arial MT"/>
            </a:endParaRPr>
          </a:p>
          <a:p>
            <a:pPr marL="413384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copy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minimum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right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</a:t>
            </a:r>
            <a:r>
              <a:rPr sz="2000" spc="-20" dirty="0">
                <a:latin typeface="Arial MT"/>
                <a:cs typeface="Arial MT"/>
              </a:rPr>
              <a:t>tree</a:t>
            </a:r>
            <a:endParaRPr sz="2000">
              <a:latin typeface="Arial MT"/>
              <a:cs typeface="Arial MT"/>
            </a:endParaRPr>
          </a:p>
          <a:p>
            <a:pPr marL="413384" marR="5080" indent="-287020">
              <a:lnSpc>
                <a:spcPts val="2350"/>
              </a:lnSpc>
              <a:spcBef>
                <a:spcPts val="600"/>
              </a:spcBef>
              <a:buChar char="–"/>
              <a:tabLst>
                <a:tab pos="413384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promote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maximum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left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sub-tree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achieve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similar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8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4713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copy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51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right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sub-</a:t>
            </a:r>
            <a:r>
              <a:rPr sz="2400" spc="-2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8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239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51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right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sub-</a:t>
            </a:r>
            <a:r>
              <a:rPr sz="2400" spc="-2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153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8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327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51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child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85610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485380" cy="629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delete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containing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member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75"/>
              </a:lnSpc>
            </a:pPr>
            <a:r>
              <a:rPr sz="2000" dirty="0">
                <a:latin typeface="Consolas"/>
                <a:cs typeface="Consolas"/>
              </a:rPr>
              <a:t>left_tree</a:t>
            </a:r>
            <a:r>
              <a:rPr sz="2000" spc="-580" dirty="0">
                <a:latin typeface="Consolas"/>
                <a:cs typeface="Consolas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70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59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53151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625930"/>
            <a:ext cx="73869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Note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removals,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remaining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still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correctly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sorted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157" y="3380357"/>
            <a:ext cx="7716866" cy="152694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170" y="186893"/>
            <a:ext cx="5626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235" dirty="0"/>
              <a:t> </a:t>
            </a:r>
            <a:r>
              <a:rPr spc="-10" dirty="0"/>
              <a:t>(Delete)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931240"/>
            <a:ext cx="7637780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delete(int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node*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head)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node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*temp;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if(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NULL;</a:t>
            </a:r>
            <a:endParaRPr sz="2400">
              <a:latin typeface="Calibri"/>
              <a:cs typeface="Calibri"/>
            </a:endParaRPr>
          </a:p>
          <a:p>
            <a:pPr marL="1841500" marR="1129030" indent="-914400">
              <a:lnSpc>
                <a:spcPct val="100000"/>
              </a:lnSpc>
              <a:tabLst>
                <a:tab pos="2496820" algn="l"/>
                <a:tab pos="2786380" algn="l"/>
              </a:tabLst>
            </a:pPr>
            <a:r>
              <a:rPr sz="2400" dirty="0">
                <a:latin typeface="Calibri"/>
                <a:cs typeface="Calibri"/>
              </a:rPr>
              <a:t>else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(data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&lt;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&gt;data)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//left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leaf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node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&gt;left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(data,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spc="-10" dirty="0">
                <a:latin typeface="Calibri"/>
                <a:cs typeface="Calibri"/>
              </a:rPr>
              <a:t>&gt;left);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tabLst>
                <a:tab pos="2496820" algn="l"/>
                <a:tab pos="2786380" algn="l"/>
              </a:tabLst>
            </a:pPr>
            <a:r>
              <a:rPr sz="2400" dirty="0">
                <a:latin typeface="Calibri"/>
                <a:cs typeface="Calibri"/>
              </a:rPr>
              <a:t>else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(data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&gt;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&gt;data)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//left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right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927100" marR="802005" indent="914400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&gt;right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(data,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spc="-10" dirty="0">
                <a:latin typeface="Calibri"/>
                <a:cs typeface="Calibri"/>
              </a:rPr>
              <a:t>&gt;right); </a:t>
            </a:r>
            <a:r>
              <a:rPr sz="2400" dirty="0">
                <a:latin typeface="Calibri"/>
                <a:cs typeface="Calibri"/>
              </a:rPr>
              <a:t>else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if(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&gt;left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&amp;&amp;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&gt;right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//full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841500" marR="26225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temp=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min(head-&gt;right);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&gt;data=</a:t>
            </a:r>
            <a:r>
              <a:rPr sz="2400" spc="-25" dirty="0">
                <a:latin typeface="Calibri"/>
                <a:cs typeface="Calibri"/>
              </a:rPr>
              <a:t> temp-</a:t>
            </a:r>
            <a:r>
              <a:rPr sz="2400" spc="-10" dirty="0">
                <a:latin typeface="Calibri"/>
                <a:cs typeface="Calibri"/>
              </a:rPr>
              <a:t>&gt;data;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&gt;right=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(head-</a:t>
            </a:r>
            <a:r>
              <a:rPr sz="2400" dirty="0">
                <a:latin typeface="Calibri"/>
                <a:cs typeface="Calibri"/>
              </a:rPr>
              <a:t>&gt;data,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spc="-10" dirty="0">
                <a:latin typeface="Calibri"/>
                <a:cs typeface="Calibri"/>
              </a:rPr>
              <a:t>&gt;right);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170" dirty="0"/>
              <a:t> </a:t>
            </a:r>
            <a:r>
              <a:rPr dirty="0"/>
              <a:t>(Delete)</a:t>
            </a:r>
            <a:r>
              <a:rPr spc="-140" dirty="0"/>
              <a:t> </a:t>
            </a:r>
            <a:r>
              <a:rPr spc="-10" dirty="0"/>
              <a:t>cont..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4490"/>
            <a:ext cx="718375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else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temp=head;</a:t>
            </a:r>
            <a:endParaRPr sz="2800">
              <a:latin typeface="Calibri"/>
              <a:cs typeface="Calibri"/>
            </a:endParaRPr>
          </a:p>
          <a:p>
            <a:pPr marL="1841500" marR="853440" indent="-914400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latin typeface="Calibri"/>
                <a:cs typeface="Calibri"/>
              </a:rPr>
              <a:t>if(head-</a:t>
            </a:r>
            <a:r>
              <a:rPr sz="2800" dirty="0">
                <a:latin typeface="Calibri"/>
                <a:cs typeface="Calibri"/>
              </a:rPr>
              <a:t>&gt;left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NULL)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//neither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node </a:t>
            </a:r>
            <a:r>
              <a:rPr sz="2800" spc="-25" dirty="0">
                <a:latin typeface="Calibri"/>
                <a:cs typeface="Calibri"/>
              </a:rPr>
              <a:t>head=head-</a:t>
            </a:r>
            <a:r>
              <a:rPr sz="2800" spc="-10" dirty="0">
                <a:latin typeface="Calibri"/>
                <a:cs typeface="Calibri"/>
              </a:rPr>
              <a:t>&gt;right;</a:t>
            </a:r>
            <a:endParaRPr sz="2800">
              <a:latin typeface="Calibri"/>
              <a:cs typeface="Calibri"/>
            </a:endParaRPr>
          </a:p>
          <a:p>
            <a:pPr marL="1841500" marR="5080" indent="-9144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else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(head-</a:t>
            </a:r>
            <a:r>
              <a:rPr sz="2800" dirty="0">
                <a:latin typeface="Calibri"/>
                <a:cs typeface="Calibri"/>
              </a:rPr>
              <a:t>&gt;right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==NULL)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//neither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node </a:t>
            </a:r>
            <a:r>
              <a:rPr sz="2800" spc="-25" dirty="0">
                <a:latin typeface="Calibri"/>
                <a:cs typeface="Calibri"/>
              </a:rPr>
              <a:t>head=head-</a:t>
            </a:r>
            <a:r>
              <a:rPr sz="2800" spc="-10" dirty="0">
                <a:latin typeface="Calibri"/>
                <a:cs typeface="Calibri"/>
              </a:rPr>
              <a:t>&gt;left;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delete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temp;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alibri"/>
                <a:cs typeface="Calibri"/>
              </a:rPr>
              <a:t>return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head;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56464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Traversal</a:t>
            </a:r>
            <a:r>
              <a:rPr spc="-7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6406515" cy="38398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42265" marR="644525" indent="-342265" algn="r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42265" algn="l"/>
              </a:tabLst>
            </a:pPr>
            <a:r>
              <a:rPr sz="3200" dirty="0">
                <a:latin typeface="Calibri"/>
                <a:cs typeface="Calibri"/>
              </a:rPr>
              <a:t>There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traversals</a:t>
            </a:r>
            <a:endParaRPr sz="3200">
              <a:latin typeface="Calibri"/>
              <a:cs typeface="Calibri"/>
            </a:endParaRPr>
          </a:p>
          <a:p>
            <a:pPr marL="286385" marR="578485" lvl="1" indent="-286385" algn="r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286385" algn="l"/>
              </a:tabLst>
            </a:pPr>
            <a:r>
              <a:rPr sz="2800" dirty="0">
                <a:latin typeface="Calibri"/>
                <a:cs typeface="Calibri"/>
              </a:rPr>
              <a:t>Breadth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Traversal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(BFS)</a:t>
            </a:r>
            <a:endParaRPr sz="28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Make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(Already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covered)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285" algn="l"/>
                <a:tab pos="4903470" algn="l"/>
              </a:tabLst>
            </a:pPr>
            <a:r>
              <a:rPr sz="2800" dirty="0">
                <a:latin typeface="Calibri"/>
                <a:cs typeface="Calibri"/>
              </a:rPr>
              <a:t>Depth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Traversal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(DFS)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Calibri"/>
                <a:cs typeface="Calibri"/>
              </a:rPr>
              <a:t>Make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ADT</a:t>
            </a:r>
            <a:endParaRPr sz="24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Inorder</a:t>
            </a:r>
            <a:endParaRPr sz="24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Preorder</a:t>
            </a:r>
            <a:endParaRPr sz="24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Postorder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5252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In-</a:t>
            </a:r>
            <a:r>
              <a:rPr dirty="0"/>
              <a:t>order</a:t>
            </a:r>
            <a:r>
              <a:rPr spc="-95" dirty="0"/>
              <a:t> </a:t>
            </a:r>
            <a:r>
              <a:rPr spc="-5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738"/>
            <a:ext cx="2956560" cy="267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depth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traversal.</a:t>
            </a:r>
            <a:endParaRPr sz="2400">
              <a:latin typeface="Calibri"/>
              <a:cs typeface="Calibri"/>
            </a:endParaRPr>
          </a:p>
          <a:p>
            <a:pPr marL="355600" marR="61912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traversing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509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node,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discussion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0375" y="1537461"/>
            <a:ext cx="403606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Void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(node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*head)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(head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</a:t>
            </a:r>
            <a:endParaRPr sz="2400">
              <a:latin typeface="Calibri"/>
              <a:cs typeface="Calibri"/>
            </a:endParaRPr>
          </a:p>
          <a:p>
            <a:pPr marL="927100" marR="574040" indent="9144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return;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(head-</a:t>
            </a:r>
            <a:r>
              <a:rPr sz="2400" spc="-10" dirty="0">
                <a:latin typeface="Calibri"/>
                <a:cs typeface="Calibri"/>
              </a:rPr>
              <a:t>&gt;left);</a:t>
            </a:r>
            <a:endParaRPr sz="24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cout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”;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(head-</a:t>
            </a:r>
            <a:r>
              <a:rPr sz="2400" spc="-10" dirty="0">
                <a:latin typeface="Calibri"/>
                <a:cs typeface="Calibri"/>
              </a:rPr>
              <a:t>&gt;right);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36525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Pre-</a:t>
            </a:r>
            <a:r>
              <a:rPr dirty="0"/>
              <a:t>order</a:t>
            </a:r>
            <a:r>
              <a:rPr spc="-75" dirty="0"/>
              <a:t> </a:t>
            </a:r>
            <a:r>
              <a:rPr spc="-5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738"/>
            <a:ext cx="2940050" cy="267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depth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traversal.</a:t>
            </a:r>
            <a:endParaRPr sz="2400">
              <a:latin typeface="Calibri"/>
              <a:cs typeface="Calibri"/>
            </a:endParaRPr>
          </a:p>
          <a:p>
            <a:pPr marL="355600" marR="60261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traversing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  <a:p>
            <a:pPr marL="756285" marR="36195" indent="-287020">
              <a:lnSpc>
                <a:spcPct val="100000"/>
              </a:lnSpc>
              <a:spcBef>
                <a:spcPts val="509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node,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discussion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0375" y="1537461"/>
            <a:ext cx="403669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Void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preorder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(node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*head)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(head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return;</a:t>
            </a:r>
            <a:endParaRPr sz="24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cout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”; </a:t>
            </a:r>
            <a:r>
              <a:rPr sz="2400" spc="-10" dirty="0">
                <a:latin typeface="Calibri"/>
                <a:cs typeface="Calibri"/>
              </a:rPr>
              <a:t>preorder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(head-</a:t>
            </a:r>
            <a:r>
              <a:rPr sz="2400" spc="-10" dirty="0">
                <a:latin typeface="Calibri"/>
                <a:cs typeface="Calibri"/>
              </a:rPr>
              <a:t>&gt;left); </a:t>
            </a:r>
            <a:r>
              <a:rPr sz="2400" spc="-25" dirty="0">
                <a:latin typeface="Calibri"/>
                <a:cs typeface="Calibri"/>
              </a:rPr>
              <a:t>preorder(head-</a:t>
            </a:r>
            <a:r>
              <a:rPr sz="2400" spc="-10" dirty="0">
                <a:latin typeface="Calibri"/>
                <a:cs typeface="Calibri"/>
              </a:rPr>
              <a:t>&gt;right);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125539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Post-</a:t>
            </a:r>
            <a:r>
              <a:rPr dirty="0"/>
              <a:t>order</a:t>
            </a:r>
            <a:r>
              <a:rPr spc="-75" dirty="0"/>
              <a:t> </a:t>
            </a:r>
            <a:r>
              <a:rPr spc="-5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738"/>
            <a:ext cx="3001645" cy="267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depth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traversal.</a:t>
            </a:r>
            <a:endParaRPr sz="2400">
              <a:latin typeface="Calibri"/>
              <a:cs typeface="Calibri"/>
            </a:endParaRPr>
          </a:p>
          <a:p>
            <a:pPr marL="355600" marR="66421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traversing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509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node, 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discussion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0375" y="1537461"/>
            <a:ext cx="403796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Void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postorder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*head)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(head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</a:t>
            </a:r>
            <a:endParaRPr sz="2400">
              <a:latin typeface="Calibri"/>
              <a:cs typeface="Calibri"/>
            </a:endParaRPr>
          </a:p>
          <a:p>
            <a:pPr marL="927100" marR="175895" indent="9144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return; postorder </a:t>
            </a:r>
            <a:r>
              <a:rPr sz="2400" spc="-20" dirty="0">
                <a:latin typeface="Calibri"/>
                <a:cs typeface="Calibri"/>
              </a:rPr>
              <a:t>(head-</a:t>
            </a:r>
            <a:r>
              <a:rPr sz="2400" spc="-10" dirty="0">
                <a:latin typeface="Calibri"/>
                <a:cs typeface="Calibri"/>
              </a:rPr>
              <a:t>&gt;left); </a:t>
            </a:r>
            <a:r>
              <a:rPr sz="2400" spc="-20" dirty="0">
                <a:latin typeface="Calibri"/>
                <a:cs typeface="Calibri"/>
              </a:rPr>
              <a:t>postorder(head-</a:t>
            </a:r>
            <a:r>
              <a:rPr sz="2400" spc="-10" dirty="0">
                <a:latin typeface="Calibri"/>
                <a:cs typeface="Calibri"/>
              </a:rPr>
              <a:t>&gt;right);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cout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head-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”;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908050">
              <a:lnSpc>
                <a:spcPct val="100000"/>
              </a:lnSpc>
              <a:spcBef>
                <a:spcPts val="105"/>
              </a:spcBef>
            </a:pPr>
            <a:r>
              <a:rPr dirty="0"/>
              <a:t>Finding</a:t>
            </a:r>
            <a:r>
              <a:rPr spc="-10" dirty="0"/>
              <a:t> </a:t>
            </a:r>
            <a:r>
              <a:rPr dirty="0"/>
              <a:t>Height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Int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height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(node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*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head)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{</a:t>
            </a:r>
          </a:p>
          <a:p>
            <a:pPr marL="927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if(head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==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NULL)</a:t>
            </a:r>
          </a:p>
          <a:p>
            <a:pPr marL="18415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return</a:t>
            </a:r>
            <a:r>
              <a:rPr spc="-1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NULL;</a:t>
            </a: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pc="-20" dirty="0">
                <a:latin typeface="Calibri"/>
                <a:cs typeface="Calibri"/>
              </a:rPr>
              <a:t>else</a:t>
            </a:r>
          </a:p>
          <a:p>
            <a:pPr marL="92710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{</a:t>
            </a:r>
          </a:p>
          <a:p>
            <a:pPr marL="18415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int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h_left=</a:t>
            </a:r>
            <a:r>
              <a:rPr spc="-20" dirty="0">
                <a:latin typeface="Calibri"/>
                <a:cs typeface="Calibri"/>
              </a:rPr>
              <a:t> height(head-</a:t>
            </a:r>
            <a:r>
              <a:rPr spc="-10" dirty="0">
                <a:latin typeface="Calibri"/>
                <a:cs typeface="Calibri"/>
              </a:rPr>
              <a:t>&gt;left);</a:t>
            </a:r>
          </a:p>
          <a:p>
            <a:pPr marL="18415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int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h_right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height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(head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-</a:t>
            </a:r>
            <a:r>
              <a:rPr spc="-10" dirty="0">
                <a:latin typeface="Calibri"/>
                <a:cs typeface="Calibri"/>
              </a:rPr>
              <a:t>&gt;right);</a:t>
            </a:r>
          </a:p>
          <a:p>
            <a:pPr marL="18415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if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(h_left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&gt;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h_right)</a:t>
            </a:r>
          </a:p>
          <a:p>
            <a:pPr marL="1841500" marR="1011555" indent="9144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return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(h_left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+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1); </a:t>
            </a:r>
            <a:r>
              <a:rPr dirty="0">
                <a:latin typeface="Calibri"/>
                <a:cs typeface="Calibri"/>
              </a:rPr>
              <a:t>else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return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h_right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+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1);</a:t>
            </a: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50" dirty="0">
                <a:latin typeface="Calibri"/>
                <a:cs typeface="Calibri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6" rIns="0" bIns="0" rtlCol="0">
            <a:spAutoFit/>
          </a:bodyPr>
          <a:lstStyle/>
          <a:p>
            <a:pPr marL="24384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675"/>
              </a:spcBef>
            </a:pPr>
            <a:r>
              <a:rPr dirty="0"/>
              <a:t>In</a:t>
            </a:r>
            <a:r>
              <a:rPr spc="-65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topic,</a:t>
            </a:r>
            <a:r>
              <a:rPr spc="-50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covered</a:t>
            </a:r>
            <a:r>
              <a:rPr spc="-45" dirty="0"/>
              <a:t> </a:t>
            </a:r>
            <a:r>
              <a:rPr dirty="0"/>
              <a:t>binary</a:t>
            </a:r>
            <a:r>
              <a:rPr spc="-35" dirty="0"/>
              <a:t> </a:t>
            </a:r>
            <a:r>
              <a:rPr dirty="0"/>
              <a:t>search</a:t>
            </a:r>
            <a:r>
              <a:rPr spc="-60" dirty="0"/>
              <a:t> </a:t>
            </a:r>
            <a:r>
              <a:rPr spc="-10" dirty="0"/>
              <a:t>trees</a:t>
            </a:r>
          </a:p>
          <a:p>
            <a:pPr marL="527050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527685" algn="l"/>
              </a:tabLst>
            </a:pPr>
            <a:r>
              <a:rPr sz="2000" spc="-10" dirty="0"/>
              <a:t>Described</a:t>
            </a:r>
            <a:r>
              <a:rPr sz="2000" spc="-140" dirty="0"/>
              <a:t> </a:t>
            </a:r>
            <a:r>
              <a:rPr sz="2000" dirty="0"/>
              <a:t>Abstract</a:t>
            </a:r>
            <a:r>
              <a:rPr sz="2000" spc="-30" dirty="0"/>
              <a:t> </a:t>
            </a:r>
            <a:r>
              <a:rPr sz="2000" dirty="0"/>
              <a:t>Sorted</a:t>
            </a:r>
            <a:r>
              <a:rPr sz="2000" spc="-15" dirty="0"/>
              <a:t> </a:t>
            </a:r>
            <a:r>
              <a:rPr sz="2000" spc="-10" dirty="0"/>
              <a:t>Lists</a:t>
            </a:r>
            <a:endParaRPr sz="2000"/>
          </a:p>
          <a:p>
            <a:pPr marL="527050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527685" algn="l"/>
              </a:tabLst>
            </a:pPr>
            <a:r>
              <a:rPr sz="2000" dirty="0"/>
              <a:t>Problems</a:t>
            </a:r>
            <a:r>
              <a:rPr sz="2000" spc="-50" dirty="0"/>
              <a:t> </a:t>
            </a:r>
            <a:r>
              <a:rPr sz="2000" dirty="0"/>
              <a:t>using</a:t>
            </a:r>
            <a:r>
              <a:rPr sz="2000" spc="-35" dirty="0"/>
              <a:t> </a:t>
            </a:r>
            <a:r>
              <a:rPr sz="2000" dirty="0"/>
              <a:t>arrays</a:t>
            </a:r>
            <a:r>
              <a:rPr sz="2000" spc="-65" dirty="0"/>
              <a:t> </a:t>
            </a:r>
            <a:r>
              <a:rPr sz="2000" dirty="0"/>
              <a:t>and</a:t>
            </a:r>
            <a:r>
              <a:rPr sz="2000" spc="-35" dirty="0"/>
              <a:t> </a:t>
            </a:r>
            <a:r>
              <a:rPr sz="2000" dirty="0"/>
              <a:t>linked</a:t>
            </a:r>
            <a:r>
              <a:rPr sz="2000" spc="-35" dirty="0"/>
              <a:t> </a:t>
            </a:r>
            <a:r>
              <a:rPr sz="2000" spc="-10" dirty="0"/>
              <a:t>lists</a:t>
            </a:r>
            <a:endParaRPr sz="2000"/>
          </a:p>
          <a:p>
            <a:pPr marL="527050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527685" algn="l"/>
              </a:tabLst>
            </a:pPr>
            <a:r>
              <a:rPr sz="2000" dirty="0"/>
              <a:t>Definition</a:t>
            </a:r>
            <a:r>
              <a:rPr sz="2000" spc="-20" dirty="0"/>
              <a:t> </a:t>
            </a:r>
            <a:r>
              <a:rPr sz="2000" dirty="0"/>
              <a:t>of</a:t>
            </a:r>
            <a:r>
              <a:rPr sz="2000" spc="-40" dirty="0"/>
              <a:t> </a:t>
            </a:r>
            <a:r>
              <a:rPr sz="2000" dirty="0"/>
              <a:t>a</a:t>
            </a:r>
            <a:r>
              <a:rPr sz="2000" spc="-20" dirty="0"/>
              <a:t> </a:t>
            </a:r>
            <a:r>
              <a:rPr sz="2000" dirty="0"/>
              <a:t>binary</a:t>
            </a:r>
            <a:r>
              <a:rPr sz="2000" spc="-35" dirty="0"/>
              <a:t> </a:t>
            </a:r>
            <a:r>
              <a:rPr sz="2000" dirty="0"/>
              <a:t>search</a:t>
            </a:r>
            <a:r>
              <a:rPr sz="2000" spc="-65" dirty="0"/>
              <a:t> </a:t>
            </a:r>
            <a:r>
              <a:rPr sz="2000" spc="-20" dirty="0"/>
              <a:t>tree</a:t>
            </a:r>
            <a:endParaRPr sz="2000"/>
          </a:p>
          <a:p>
            <a:pPr marL="527050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527685" algn="l"/>
              </a:tabLst>
            </a:pPr>
            <a:r>
              <a:rPr sz="2000" dirty="0"/>
              <a:t>Looked</a:t>
            </a:r>
            <a:r>
              <a:rPr sz="2000" spc="-45" dirty="0"/>
              <a:t> </a:t>
            </a:r>
            <a:r>
              <a:rPr sz="2000" dirty="0"/>
              <a:t>at</a:t>
            </a:r>
            <a:r>
              <a:rPr sz="2000" spc="-4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implementation</a:t>
            </a:r>
            <a:r>
              <a:rPr sz="2000" spc="-40" dirty="0"/>
              <a:t> </a:t>
            </a:r>
            <a:r>
              <a:rPr sz="2000" spc="-25" dirty="0"/>
              <a:t>of:</a:t>
            </a:r>
            <a:endParaRPr sz="2000"/>
          </a:p>
          <a:p>
            <a:pPr marL="926465" lvl="1" indent="-228600">
              <a:lnSpc>
                <a:spcPct val="100000"/>
              </a:lnSpc>
              <a:spcBef>
                <a:spcPts val="440"/>
              </a:spcBef>
              <a:buChar char="•"/>
              <a:tabLst>
                <a:tab pos="927100" algn="l"/>
              </a:tabLst>
            </a:pPr>
            <a:r>
              <a:rPr sz="1800" spc="-10" dirty="0">
                <a:latin typeface="Arial MT"/>
                <a:cs typeface="Arial MT"/>
              </a:rPr>
              <a:t>Insert</a:t>
            </a:r>
            <a:endParaRPr sz="1800">
              <a:latin typeface="Arial MT"/>
              <a:cs typeface="Arial MT"/>
            </a:endParaRPr>
          </a:p>
          <a:p>
            <a:pPr marL="926465" lvl="1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927100" algn="l"/>
              </a:tabLst>
            </a:pPr>
            <a:r>
              <a:rPr sz="1800" spc="-10" dirty="0">
                <a:latin typeface="Arial MT"/>
                <a:cs typeface="Arial MT"/>
              </a:rPr>
              <a:t>Delete</a:t>
            </a:r>
            <a:endParaRPr sz="1800">
              <a:latin typeface="Arial MT"/>
              <a:cs typeface="Arial MT"/>
            </a:endParaRPr>
          </a:p>
          <a:p>
            <a:pPr marL="926465" lvl="1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927100" algn="l"/>
              </a:tabLst>
            </a:pPr>
            <a:r>
              <a:rPr sz="1800" spc="-10" dirty="0">
                <a:latin typeface="Arial MT"/>
                <a:cs typeface="Arial MT"/>
              </a:rPr>
              <a:t>Search</a:t>
            </a:r>
            <a:endParaRPr sz="1800">
              <a:latin typeface="Arial MT"/>
              <a:cs typeface="Arial MT"/>
            </a:endParaRPr>
          </a:p>
          <a:p>
            <a:pPr marL="926465" lvl="1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927100" algn="l"/>
              </a:tabLst>
            </a:pPr>
            <a:r>
              <a:rPr sz="1800" spc="-10" dirty="0">
                <a:latin typeface="Arial MT"/>
                <a:cs typeface="Arial MT"/>
              </a:rPr>
              <a:t>Traversals</a:t>
            </a:r>
            <a:endParaRPr sz="1800">
              <a:latin typeface="Arial MT"/>
              <a:cs typeface="Arial MT"/>
            </a:endParaRPr>
          </a:p>
          <a:p>
            <a:pPr marL="926465" lvl="1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927100" algn="l"/>
              </a:tabLst>
            </a:pPr>
            <a:r>
              <a:rPr sz="1800" spc="-10" dirty="0">
                <a:latin typeface="Arial MT"/>
                <a:cs typeface="Arial MT"/>
              </a:rPr>
              <a:t>Height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1351</Words>
  <Application>Microsoft Office PowerPoint</Application>
  <PresentationFormat>On-screen Show (4:3)</PresentationFormat>
  <Paragraphs>270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Arial MT</vt:lpstr>
      <vt:lpstr>Calibri</vt:lpstr>
      <vt:lpstr>Consolas</vt:lpstr>
      <vt:lpstr>Times New Roman</vt:lpstr>
      <vt:lpstr>Office Theme</vt:lpstr>
      <vt:lpstr>PowerPoint Presentation</vt:lpstr>
      <vt:lpstr>Outline</vt:lpstr>
      <vt:lpstr>Background</vt:lpstr>
      <vt:lpstr>Binary Search Trees</vt:lpstr>
      <vt:lpstr>Binary Search Trees</vt:lpstr>
      <vt:lpstr>Definition</vt:lpstr>
      <vt:lpstr>Examples</vt:lpstr>
      <vt:lpstr>Examples</vt:lpstr>
      <vt:lpstr>Examples</vt:lpstr>
      <vt:lpstr>Structure of BST Node</vt:lpstr>
      <vt:lpstr>Operations on a BST</vt:lpstr>
      <vt:lpstr>Insert</vt:lpstr>
      <vt:lpstr>Implementation Details</vt:lpstr>
      <vt:lpstr>Search</vt:lpstr>
      <vt:lpstr>Finding minimum</vt:lpstr>
      <vt:lpstr>Finding Maximum</vt:lpstr>
      <vt:lpstr>Finding Predecessor</vt:lpstr>
      <vt:lpstr>Finding Successor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Delete</vt:lpstr>
      <vt:lpstr>Implementation (Delete)</vt:lpstr>
      <vt:lpstr>Implementation (Delete) cont..</vt:lpstr>
      <vt:lpstr>Traversal in a BST</vt:lpstr>
      <vt:lpstr>In-order Traversal</vt:lpstr>
      <vt:lpstr>Pre-order Traversal</vt:lpstr>
      <vt:lpstr>Post-order Traversal</vt:lpstr>
      <vt:lpstr>Finding Height of a BST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and 7</dc:title>
  <dc:creator>sony</dc:creator>
  <cp:lastModifiedBy>mubashra fayyaz</cp:lastModifiedBy>
  <cp:revision>1</cp:revision>
  <dcterms:created xsi:type="dcterms:W3CDTF">2023-10-25T08:38:18Z</dcterms:created>
  <dcterms:modified xsi:type="dcterms:W3CDTF">2024-10-09T07:15:11Z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2020-05-02T00:00:00Z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2023-10-25T00:00:00Z</vt:filetime>
  </property>
  <property fmtid="{D5CDD505-2E9C-101B-9397-08002B2CF9AE}" pid="5" name="Producer">
    <vt:lpwstr>Microsoft® PowerPoint® 2010</vt:lpwstr>
  </property>
</Properties>
</file>